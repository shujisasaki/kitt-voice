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7987" y="507987"/>
            <a:ext cx="7619809" cy="3174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FFC72C"/>
                </a:solidFill>
                <a:latin typeface="Hiragino Sans"/>
              </a:rPr>
              <a:t>Project danjer-GAIA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7987" y="1015974"/>
            <a:ext cx="10794730" cy="825479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6000" b="1">
                <a:solidFill>
                  <a:srgbClr val="FFFFFF"/>
                </a:solidFill>
                <a:latin typeface="Hiragino Sans"/>
              </a:rPr>
              <a:t>BTC 投資効率最大化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7987" y="2031949"/>
            <a:ext cx="10794730" cy="507987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0">
                <a:solidFill>
                  <a:srgbClr val="FFC72C"/>
                </a:solidFill>
                <a:latin typeface="Hiragino Sans"/>
              </a:rPr>
              <a:t>— danjerを教科書に、 AIが市場ゲームで成長する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7987" y="3365415"/>
            <a:ext cx="3682907" cy="1777955"/>
          </a:xfrm>
          <a:prstGeom prst="roundRect">
            <a:avLst/>
          </a:prstGeom>
          <a:solidFill>
            <a:srgbClr val="252E4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8482" y="3524161"/>
            <a:ext cx="3428914" cy="38099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Hiragino Sans"/>
              </a:rPr>
              <a:t>成長型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482" y="3968650"/>
            <a:ext cx="3428914" cy="1142971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Hiragino Sans"/>
              </a:rPr>
              <a:t>bot ではなく、 相場のルール変更に
適応し続けるAI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44888" y="3365415"/>
            <a:ext cx="3682907" cy="1777955"/>
          </a:xfrm>
          <a:prstGeom prst="roundRect">
            <a:avLst/>
          </a:prstGeom>
          <a:solidFill>
            <a:srgbClr val="252E42"/>
          </a:solidFill>
          <a:ln w="12700">
            <a:solidFill>
              <a:srgbClr val="FFC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35384" y="3524161"/>
            <a:ext cx="3428914" cy="38099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>
                <a:solidFill>
                  <a:srgbClr val="FFC72C"/>
                </a:solidFill>
                <a:latin typeface="Hiragino Sans"/>
              </a:rPr>
              <a:t>右側予測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35384" y="3968650"/>
            <a:ext cx="3428914" cy="1142971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Hiragino Sans"/>
              </a:rPr>
              <a:t>チャート未来を 「方向 × 確信度 × 危険度」
の3軸で立体的に握る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81790" y="3365415"/>
            <a:ext cx="3682907" cy="1777955"/>
          </a:xfrm>
          <a:prstGeom prst="roundRect">
            <a:avLst/>
          </a:prstGeom>
          <a:solidFill>
            <a:srgbClr val="252E42"/>
          </a:solidFill>
          <a:ln w="12700">
            <a:solidFill>
              <a:srgbClr val="FFC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72285" y="3524161"/>
            <a:ext cx="3428914" cy="38099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>
                <a:solidFill>
                  <a:srgbClr val="FFC72C"/>
                </a:solidFill>
                <a:latin typeface="Hiragino Sans"/>
              </a:rPr>
              <a:t>投資効率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72285" y="3968650"/>
            <a:ext cx="3428914" cy="1142971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Hiragino Sans"/>
              </a:rPr>
              <a:t>時間あたり利益 × 元手効率
( = 時給 × 元手効率 = Trade-EHR 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7987" y="5524361"/>
            <a:ext cx="11175720" cy="3174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0">
                <a:solidFill>
                  <a:srgbClr val="AFB8C1"/>
                </a:solidFill>
                <a:latin typeface="Hiragino Sans"/>
              </a:rPr>
              <a:t>8ヶ月で 検証可能な弟子AI まで進める / Day 1-14 で 動く土台 7つ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7987" y="6476838"/>
            <a:ext cx="5079873" cy="253993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>
                <a:solidFill>
                  <a:srgbClr val="AFB8C1"/>
                </a:solidFill>
                <a:latin typeface="Hiragino Sans"/>
              </a:rPr>
              <a:t>Project danjer-GAIA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94730" y="6476838"/>
            <a:ext cx="888977" cy="253993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AFB8C1"/>
                </a:solidFill>
                <a:latin typeface="Hiragino Sans"/>
              </a:rPr>
              <a:t>01 / 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7987" y="507987"/>
            <a:ext cx="11175720" cy="507987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Hiragino Sans"/>
              </a:rPr>
              <a:t>相場の変化に適応し続ける 「弟子AI」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7987" y="1111222"/>
            <a:ext cx="11175720" cy="3174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0">
                <a:solidFill>
                  <a:srgbClr val="AFB8C1"/>
                </a:solidFill>
                <a:latin typeface="Hiragino Sans"/>
              </a:rPr>
              <a:t>固定ロジックbotは 賞味期限切れで破綻 — GAIAは 相場のルール変更に学び直す</a:t>
            </a:r>
          </a:p>
        </p:txBody>
      </p:sp>
      <p:pic>
        <p:nvPicPr>
          <p:cNvPr id="4" name="Picture 3" descr="s2_paradig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987" y="1650958"/>
            <a:ext cx="11175720" cy="48579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7987" y="5968850"/>
            <a:ext cx="11175720" cy="38099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>
                <a:solidFill>
                  <a:srgbClr val="FFC72C"/>
                </a:solidFill>
                <a:latin typeface="Hiragino Sans"/>
              </a:rPr>
              <a:t>Shujiさんが嫌うのは 「成長しない固定bot」 — GAIAは自動実行を否定しない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87" y="6476838"/>
            <a:ext cx="5079873" cy="253993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>
                <a:solidFill>
                  <a:srgbClr val="AFB8C1"/>
                </a:solidFill>
                <a:latin typeface="Hiragino Sans"/>
              </a:rPr>
              <a:t>Project danjer-GAIA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94730" y="6476838"/>
            <a:ext cx="888977" cy="253993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AFB8C1"/>
                </a:solidFill>
                <a:latin typeface="Hiragino Sans"/>
              </a:rPr>
              <a:t>02 / 09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7987" y="507987"/>
            <a:ext cx="11175720" cy="507987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Hiragino Sans"/>
              </a:rPr>
              <a:t>danjer DNA の抽出プロセス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7987" y="1111222"/>
            <a:ext cx="11175720" cy="3174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0">
                <a:solidFill>
                  <a:srgbClr val="AFB8C1"/>
                </a:solidFill>
                <a:latin typeface="Hiragino Sans"/>
              </a:rPr>
              <a:t>「教科書」を軽視しない。 だからこそ、 ノイズと戦略を徹底的に分離する</a:t>
            </a:r>
          </a:p>
        </p:txBody>
      </p:sp>
      <p:pic>
        <p:nvPicPr>
          <p:cNvPr id="4" name="Picture 3" descr="s3_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5911" y="1777955"/>
            <a:ext cx="5079873" cy="4447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7987" y="2285942"/>
            <a:ext cx="2920926" cy="228594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FFC72C"/>
                </a:solidFill>
                <a:latin typeface="Hiragino Sans"/>
              </a:rPr>
              <a:t>「質」で絞る ≠ 売買発言だけ</a:t>
            </a:r>
          </a:p>
          <a:p>
            <a:pPr algn="l">
              <a:lnSpc>
                <a:spcPct val="130000"/>
              </a:lnSpc>
            </a:pPr>
            <a:r>
              <a:rPr sz="1700" b="0">
                <a:solidFill>
                  <a:srgbClr val="FFFFFF"/>
                </a:solidFill>
                <a:latin typeface="Hiragino Sans"/>
              </a:rPr>
              <a:t>常駐対象に含めるもの:</a:t>
            </a:r>
          </a:p>
          <a:p>
            <a:pPr algn="l">
              <a:lnSpc>
                <a:spcPct val="130000"/>
              </a:lnSpc>
            </a:pPr>
            <a:r>
              <a:rPr sz="1600" b="0">
                <a:solidFill>
                  <a:srgbClr val="FFFFFF"/>
                </a:solidFill>
                <a:latin typeface="Hiragino Sans"/>
              </a:rPr>
              <a:t>・売買判断ポスト</a:t>
            </a:r>
          </a:p>
          <a:p>
            <a:pPr algn="l">
              <a:lnSpc>
                <a:spcPct val="130000"/>
              </a:lnSpc>
            </a:pPr>
            <a:r>
              <a:rPr sz="1600" b="0">
                <a:solidFill>
                  <a:srgbClr val="FFFFFF"/>
                </a:solidFill>
                <a:latin typeface="Hiragino Sans"/>
              </a:rPr>
              <a:t>・失敗の反省</a:t>
            </a:r>
          </a:p>
          <a:p>
            <a:pPr algn="l">
              <a:lnSpc>
                <a:spcPct val="130000"/>
              </a:lnSpc>
            </a:pPr>
            <a:r>
              <a:rPr sz="1600" b="0">
                <a:solidFill>
                  <a:srgbClr val="FFFFFF"/>
                </a:solidFill>
                <a:latin typeface="Hiragino Sans"/>
              </a:rPr>
              <a:t>・警戒姿勢 (罠の匂い)</a:t>
            </a:r>
          </a:p>
          <a:p>
            <a:pPr algn="l">
              <a:lnSpc>
                <a:spcPct val="130000"/>
              </a:lnSpc>
            </a:pPr>
            <a:r>
              <a:rPr sz="1600" b="0">
                <a:solidFill>
                  <a:srgbClr val="FFFFFF"/>
                </a:solidFill>
                <a:latin typeface="Hiragino Sans"/>
              </a:rPr>
              <a:t>・相場観・利確判断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AFB8C1"/>
                </a:solidFill>
                <a:latin typeface="Hiragino Sans"/>
              </a:rPr>
              <a:t>※ 雑談 / 個人事情は除外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2780" y="2412939"/>
            <a:ext cx="3047923" cy="203194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FFC72C"/>
                </a:solidFill>
                <a:latin typeface="Hiragino Sans"/>
              </a:rPr>
              <a:t>完成したDNAは</a:t>
            </a:r>
          </a:p>
          <a:p>
            <a:pPr algn="l">
              <a:lnSpc>
                <a:spcPct val="130000"/>
              </a:lnSpc>
            </a:pPr>
            <a:r>
              <a:rPr sz="1800" b="0">
                <a:solidFill>
                  <a:srgbClr val="FFFFFF"/>
                </a:solidFill>
                <a:latin typeface="Hiragino Sans"/>
              </a:rPr>
              <a:t>Slow Brain (頭脳) が</a:t>
            </a:r>
          </a:p>
          <a:p>
            <a:pPr algn="l">
              <a:lnSpc>
                <a:spcPct val="130000"/>
              </a:lnSpc>
            </a:pPr>
            <a:r>
              <a:rPr sz="1800" b="0">
                <a:solidFill>
                  <a:srgbClr val="FFFFFF"/>
                </a:solidFill>
                <a:latin typeface="Hiragino Sans"/>
              </a:rPr>
              <a:t>戦略を組み立てるための</a:t>
            </a:r>
          </a:p>
          <a:p>
            <a:pPr algn="l">
              <a:lnSpc>
                <a:spcPct val="130000"/>
              </a:lnSpc>
            </a:pPr>
            <a:r>
              <a:rPr sz="1800" b="1">
                <a:solidFill>
                  <a:srgbClr val="FFC72C"/>
                </a:solidFill>
                <a:latin typeface="Hiragino Sans"/>
              </a:rPr>
              <a:t>絶対的なベースライン (地図)</a:t>
            </a:r>
          </a:p>
          <a:p>
            <a:pPr algn="l">
              <a:lnSpc>
                <a:spcPct val="130000"/>
              </a:lnSpc>
            </a:pPr>
            <a:r>
              <a:rPr sz="1800" b="0">
                <a:solidFill>
                  <a:srgbClr val="FFFFFF"/>
                </a:solidFill>
                <a:latin typeface="Hiragino Sans"/>
              </a:rPr>
              <a:t>となる。 そしてAIはそれを超える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7987" y="6476838"/>
            <a:ext cx="5079873" cy="253993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>
                <a:solidFill>
                  <a:srgbClr val="AFB8C1"/>
                </a:solidFill>
                <a:latin typeface="Hiragino Sans"/>
              </a:rPr>
              <a:t>Project danjer-GAIA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94730" y="6476838"/>
            <a:ext cx="888977" cy="253993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AFB8C1"/>
                </a:solidFill>
                <a:latin typeface="Hiragino Sans"/>
              </a:rPr>
              <a:t>03 / 09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7987" y="507987"/>
            <a:ext cx="11175720" cy="507987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Hiragino Sans"/>
              </a:rPr>
              <a:t>未来 (右側) を捉える 3つの座標軸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7987" y="1111222"/>
            <a:ext cx="11175720" cy="3174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0">
                <a:solidFill>
                  <a:srgbClr val="AFB8C1"/>
                </a:solidFill>
                <a:latin typeface="Hiragino Sans"/>
              </a:rPr>
              <a:t>1つの未来を当てるのではなく、 方向×確信度×危険度の3軸で 「立体ホールド」 する</a:t>
            </a:r>
          </a:p>
        </p:txBody>
      </p:sp>
      <p:pic>
        <p:nvPicPr>
          <p:cNvPr id="4" name="Picture 3" descr="s4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0895" y="1777955"/>
            <a:ext cx="3809904" cy="36499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7987" y="5524361"/>
            <a:ext cx="11175720" cy="634984"/>
          </a:xfrm>
          <a:prstGeom prst="roundRect">
            <a:avLst/>
          </a:prstGeom>
          <a:solidFill>
            <a:srgbClr val="252E42"/>
          </a:solidFill>
          <a:ln w="12700">
            <a:solidFill>
              <a:srgbClr val="FFC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7987" y="5524361"/>
            <a:ext cx="11175720" cy="63498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2200" b="1">
                <a:solidFill>
                  <a:srgbClr val="FFC72C"/>
                </a:solidFill>
                <a:latin typeface="Hiragino Sans"/>
              </a:rPr>
              <a:t>確信度が 高く、 かつ 危険度が 低い 局面 (圧倒的優位性) においてのみ、 レバレッジを 動的に引き上げる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7987" y="6476838"/>
            <a:ext cx="5079873" cy="253993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>
                <a:solidFill>
                  <a:srgbClr val="AFB8C1"/>
                </a:solidFill>
                <a:latin typeface="Hiragino Sans"/>
              </a:rPr>
              <a:t>Project danjer-GAIA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94730" y="6476838"/>
            <a:ext cx="888977" cy="253993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AFB8C1"/>
                </a:solidFill>
                <a:latin typeface="Hiragino Sans"/>
              </a:rPr>
              <a:t>04 / 09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7987" y="507987"/>
            <a:ext cx="11175720" cy="507987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Hiragino Sans"/>
              </a:rPr>
              <a:t>レジーム (相場の4つの顔) とマトリクス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7987" y="1111222"/>
            <a:ext cx="11175720" cy="3174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0">
                <a:solidFill>
                  <a:srgbClr val="AFB8C1"/>
                </a:solidFill>
                <a:latin typeface="Hiragino Sans"/>
              </a:rPr>
              <a:t>ボラ × トレンドの4象限で レバを 自動で 上下する — 攻めるべき時だけ攻める</a:t>
            </a:r>
          </a:p>
        </p:txBody>
      </p:sp>
      <p:pic>
        <p:nvPicPr>
          <p:cNvPr id="4" name="Picture 3" descr="s5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7955" y="1777955"/>
            <a:ext cx="8635784" cy="55043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7987" y="6032349"/>
            <a:ext cx="11175720" cy="3174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600" b="0">
                <a:solidFill>
                  <a:srgbClr val="AFB8C1"/>
                </a:solidFill>
                <a:latin typeface="Hiragino Sans"/>
              </a:rPr>
              <a:t>レジーム判定は ATR × Slope を ローリング・パーセンタイル で 動的に閾値設定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87" y="6476838"/>
            <a:ext cx="5079873" cy="253993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>
                <a:solidFill>
                  <a:srgbClr val="AFB8C1"/>
                </a:solidFill>
                <a:latin typeface="Hiragino Sans"/>
              </a:rPr>
              <a:t>Project danjer-GAIA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94730" y="6476838"/>
            <a:ext cx="888977" cy="253993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AFB8C1"/>
                </a:solidFill>
                <a:latin typeface="Hiragino Sans"/>
              </a:rPr>
              <a:t>05 / 09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7987" y="507987"/>
            <a:ext cx="11175720" cy="507987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Hiragino Sans"/>
              </a:rPr>
              <a:t>損切りは AIの判断より前 — 三重の防護壁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7987" y="1111222"/>
            <a:ext cx="11175720" cy="3174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0">
                <a:solidFill>
                  <a:srgbClr val="AFB8C1"/>
                </a:solidFill>
                <a:latin typeface="Hiragino Sans"/>
              </a:rPr>
              <a:t>AIが判断する前に 3つの関門で 「破滅」 を 物理的に止める</a:t>
            </a:r>
          </a:p>
        </p:txBody>
      </p:sp>
      <p:pic>
        <p:nvPicPr>
          <p:cNvPr id="4" name="Picture 3" descr="s6_g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987" y="1777955"/>
            <a:ext cx="11175720" cy="4803817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7987" y="5524361"/>
            <a:ext cx="11175720" cy="634984"/>
          </a:xfrm>
          <a:prstGeom prst="roundRect">
            <a:avLst/>
          </a:prstGeom>
          <a:solidFill>
            <a:srgbClr val="252E42"/>
          </a:solidFill>
          <a:ln w="12700">
            <a:solidFill>
              <a:srgbClr val="FFC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7987" y="5524361"/>
            <a:ext cx="11175720" cy="63498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2400" b="1">
                <a:solidFill>
                  <a:srgbClr val="FFC72C"/>
                </a:solidFill>
                <a:latin typeface="Hiragino Sans"/>
              </a:rPr>
              <a:t>SL なしの注文は 出さない。 エントリーと同時に 損切りを 置く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7987" y="6476838"/>
            <a:ext cx="5079873" cy="253993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>
                <a:solidFill>
                  <a:srgbClr val="AFB8C1"/>
                </a:solidFill>
                <a:latin typeface="Hiragino Sans"/>
              </a:rPr>
              <a:t>Project danjer-GAIA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94730" y="6476838"/>
            <a:ext cx="888977" cy="253993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AFB8C1"/>
                </a:solidFill>
                <a:latin typeface="Hiragino Sans"/>
              </a:rPr>
              <a:t>06 / 09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7987" y="507987"/>
            <a:ext cx="11175720" cy="507987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Hiragino Sans"/>
              </a:rPr>
              <a:t>15分 TTL (賞味期限) と デッドロック解消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7987" y="1111222"/>
            <a:ext cx="11175720" cy="3174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0">
                <a:solidFill>
                  <a:srgbClr val="AFB8C1"/>
                </a:solidFill>
                <a:latin typeface="Hiragino Sans"/>
              </a:rPr>
              <a:t>古い判断で 勝手に売買しない — Slow Brainの方針には 鉄の時間制限がある</a:t>
            </a:r>
          </a:p>
        </p:txBody>
      </p:sp>
      <p:pic>
        <p:nvPicPr>
          <p:cNvPr id="4" name="Picture 3" descr="s7_hourg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987" y="1841453"/>
            <a:ext cx="3809904" cy="44415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25879" y="1841453"/>
            <a:ext cx="6857828" cy="38099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1">
                <a:solidFill>
                  <a:srgbClr val="FFC72C"/>
                </a:solidFill>
                <a:latin typeface="Hiragino Sans"/>
              </a:rPr>
              <a:t>時間による 鉄の統治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25879" y="2412939"/>
            <a:ext cx="6857828" cy="82547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>
                <a:solidFill>
                  <a:srgbClr val="FFFFFF"/>
                </a:solidFill>
                <a:latin typeface="Hiragino Sans"/>
              </a:rPr>
              <a:t>判断の賞味期限は </a:t>
            </a:r>
          </a:p>
          <a:p>
            <a:pPr algn="l">
              <a:lnSpc>
                <a:spcPct val="130000"/>
              </a:lnSpc>
            </a:pPr>
            <a:r>
              <a:rPr sz="2800" b="1">
                <a:solidFill>
                  <a:srgbClr val="FFC72C"/>
                </a:solidFill>
                <a:latin typeface="Hiragino Sans"/>
              </a:rPr>
              <a:t>「15分」</a:t>
            </a:r>
          </a:p>
          <a:p>
            <a:pPr algn="l">
              <a:lnSpc>
                <a:spcPct val="130000"/>
              </a:lnSpc>
            </a:pPr>
            <a:r>
              <a:rPr sz="1800" b="0">
                <a:solidFill>
                  <a:srgbClr val="FFFFFF"/>
                </a:solidFill>
                <a:latin typeface="Hiragino Sans"/>
              </a:rPr>
              <a:t>— TTL切れ後は 新規エントリーを 完全禁止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25879" y="3428914"/>
            <a:ext cx="6857828" cy="12699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>
                <a:solidFill>
                  <a:srgbClr val="FFFFFF"/>
                </a:solidFill>
                <a:latin typeface="Hiragino Sans"/>
              </a:rPr>
              <a:t>Slow Brainの応答停止が </a:t>
            </a:r>
          </a:p>
          <a:p>
            <a:pPr algn="l">
              <a:lnSpc>
                <a:spcPct val="130000"/>
              </a:lnSpc>
            </a:pPr>
            <a:r>
              <a:rPr sz="2800" b="1">
                <a:solidFill>
                  <a:srgbClr val="FF4D4D"/>
                </a:solidFill>
                <a:latin typeface="Hiragino Sans"/>
              </a:rPr>
              <a:t>「5分」</a:t>
            </a:r>
          </a:p>
          <a:p>
            <a:pPr algn="l">
              <a:lnSpc>
                <a:spcPct val="130000"/>
              </a:lnSpc>
            </a:pPr>
            <a:r>
              <a:rPr sz="1800" b="0">
                <a:solidFill>
                  <a:srgbClr val="FFFFFF"/>
                </a:solidFill>
                <a:latin typeface="Hiragino Sans"/>
              </a:rPr>
              <a:t>続いた場合、 異常事態とみなし安全装置作動</a:t>
            </a:r>
          </a:p>
          <a:p>
            <a:pPr algn="l">
              <a:lnSpc>
                <a:spcPct val="130000"/>
              </a:lnSpc>
            </a:pPr>
            <a:r>
              <a:rPr sz="2200" b="1">
                <a:solidFill>
                  <a:srgbClr val="FF4D4D"/>
                </a:solidFill>
                <a:latin typeface="Hiragino Sans"/>
              </a:rPr>
              <a:t>→ 全ポジションの 縮小・強制クローズ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25879" y="4889377"/>
            <a:ext cx="6857828" cy="3174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FF4D4D"/>
                </a:solidFill>
                <a:latin typeface="Hiragino Sans"/>
              </a:rPr>
              <a:t>※ 一括成行による APIロック (429エラー) を回避するため、 ミリ秒単位のキューイング制御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7987" y="6476838"/>
            <a:ext cx="5079873" cy="253993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>
                <a:solidFill>
                  <a:srgbClr val="AFB8C1"/>
                </a:solidFill>
                <a:latin typeface="Hiragino Sans"/>
              </a:rPr>
              <a:t>Project danjer-GAIA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94730" y="6476838"/>
            <a:ext cx="888977" cy="253993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AFB8C1"/>
                </a:solidFill>
                <a:latin typeface="Hiragino Sans"/>
              </a:rPr>
              <a:t>07 / 09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7987" y="507987"/>
            <a:ext cx="11175720" cy="507987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Hiragino Sans"/>
              </a:rPr>
              <a:t>Day 1 - 14 開発・実装スケジュール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7987" y="1111222"/>
            <a:ext cx="11175720" cy="3174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0">
                <a:solidFill>
                  <a:srgbClr val="AFB8C1"/>
                </a:solidFill>
                <a:latin typeface="Hiragino Sans"/>
              </a:rPr>
              <a:t>巨大設計書ではなく 「動くもの」 を 14日間で 7つ 作る</a:t>
            </a:r>
          </a:p>
        </p:txBody>
      </p:sp>
      <p:pic>
        <p:nvPicPr>
          <p:cNvPr id="4" name="Picture 3" descr="s8_gant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987" y="1650958"/>
            <a:ext cx="11175720" cy="526776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7987" y="6032349"/>
            <a:ext cx="11175720" cy="3174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600" b="0">
                <a:solidFill>
                  <a:srgbClr val="FFC72C"/>
                </a:solidFill>
                <a:latin typeface="Hiragino Sans"/>
              </a:rPr>
              <a:t>※ Trade-EHR から着手 (評価軸が無いと他が無意味)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87" y="6476838"/>
            <a:ext cx="5079873" cy="253993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>
                <a:solidFill>
                  <a:srgbClr val="AFB8C1"/>
                </a:solidFill>
                <a:latin typeface="Hiragino Sans"/>
              </a:rPr>
              <a:t>Project danjer-GAIA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94730" y="6476838"/>
            <a:ext cx="888977" cy="253993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AFB8C1"/>
                </a:solidFill>
                <a:latin typeface="Hiragino Sans"/>
              </a:rPr>
              <a:t>08 / 09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7987" y="507987"/>
            <a:ext cx="11175720" cy="507987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Hiragino Sans"/>
              </a:rPr>
              <a:t>Shujiさんに 本日決断いただく 3つの 大枠方向性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7987" y="1111222"/>
            <a:ext cx="11175720" cy="3174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0">
                <a:solidFill>
                  <a:srgbClr val="AFB8C1"/>
                </a:solidFill>
                <a:latin typeface="Hiragino Sans"/>
              </a:rPr>
              <a:t>実弾金額や細かな数値は Phase 3 以降に持ち越し — まず方向と優先順位だけ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7987" y="1841453"/>
            <a:ext cx="11175720" cy="1269968"/>
          </a:xfrm>
          <a:prstGeom prst="roundRect">
            <a:avLst/>
          </a:prstGeom>
          <a:solidFill>
            <a:srgbClr val="252E42"/>
          </a:solidFill>
          <a:ln w="12700">
            <a:solidFill>
              <a:srgbClr val="FFC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1980" y="2031949"/>
            <a:ext cx="825479" cy="825479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4400" b="1">
                <a:solidFill>
                  <a:srgbClr val="FFC72C"/>
                </a:solidFill>
                <a:latin typeface="Hiragino Sans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77955" y="2000199"/>
            <a:ext cx="9524761" cy="3174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200" b="1">
                <a:solidFill>
                  <a:srgbClr val="FFC72C"/>
                </a:solidFill>
                <a:latin typeface="Hiragino Sans"/>
              </a:rPr>
              <a:t>コードネーム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77955" y="2349441"/>
            <a:ext cx="9524761" cy="38099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Hiragino Sans"/>
              </a:rPr>
              <a:t>Project danjer-GAIA で 進めるか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77955" y="2762180"/>
            <a:ext cx="9524761" cy="3174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AFB8C1"/>
                </a:solidFill>
                <a:latin typeface="Hiragino Sans"/>
              </a:rPr>
              <a:t>GPT/Gemini/Claude 3者推奨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7987" y="3238419"/>
            <a:ext cx="11175720" cy="1269968"/>
          </a:xfrm>
          <a:prstGeom prst="roundRect">
            <a:avLst/>
          </a:prstGeom>
          <a:solidFill>
            <a:srgbClr val="252E42"/>
          </a:solidFill>
          <a:ln w="12700">
            <a:solidFill>
              <a:srgbClr val="FFC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1980" y="3428914"/>
            <a:ext cx="825479" cy="825479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4400" b="1">
                <a:solidFill>
                  <a:srgbClr val="FFC72C"/>
                </a:solidFill>
                <a:latin typeface="Hiragino Sans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77955" y="3397165"/>
            <a:ext cx="9524761" cy="3174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200" b="1">
                <a:solidFill>
                  <a:srgbClr val="FFC72C"/>
                </a:solidFill>
                <a:latin typeface="Hiragino Sans"/>
              </a:rPr>
              <a:t>最優先フェーズ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77955" y="3746406"/>
            <a:ext cx="9524761" cy="38099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Hiragino Sans"/>
              </a:rPr>
              <a:t>danjer DNA を 「質ベース」 で 抽出し、 Day 1 から着手してよいか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77955" y="4159146"/>
            <a:ext cx="9524761" cy="3174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AFB8C1"/>
                </a:solidFill>
                <a:latin typeface="Hiragino Sans"/>
              </a:rPr>
              <a:t>※ 件数で絞らず 質で絞る (Shujiさん Q1 回答反映)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7987" y="4635384"/>
            <a:ext cx="11175720" cy="1269968"/>
          </a:xfrm>
          <a:prstGeom prst="roundRect">
            <a:avLst/>
          </a:prstGeom>
          <a:solidFill>
            <a:srgbClr val="252E42"/>
          </a:solidFill>
          <a:ln w="12700">
            <a:solidFill>
              <a:srgbClr val="FFC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1980" y="4825879"/>
            <a:ext cx="825479" cy="825479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4400" b="1">
                <a:solidFill>
                  <a:srgbClr val="FFC72C"/>
                </a:solidFill>
                <a:latin typeface="Hiragino San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77955" y="4794130"/>
            <a:ext cx="9524761" cy="3174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200" b="1">
                <a:solidFill>
                  <a:srgbClr val="FFC72C"/>
                </a:solidFill>
                <a:latin typeface="Hiragino Sans"/>
              </a:rPr>
              <a:t>運用順序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77955" y="5143371"/>
            <a:ext cx="9524761" cy="38099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Hiragino Sans"/>
              </a:rPr>
              <a:t>紙トレ → 0.0001 BTC 小額実弾 → 完全自動売買 の順 で進めるか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77955" y="5556111"/>
            <a:ext cx="9524761" cy="31749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AFB8C1"/>
                </a:solidFill>
                <a:latin typeface="Hiragino Sans"/>
              </a:rPr>
              <a:t>※ いきなり実弾はしない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987" y="6476838"/>
            <a:ext cx="5079873" cy="253993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>
                <a:solidFill>
                  <a:srgbClr val="AFB8C1"/>
                </a:solidFill>
                <a:latin typeface="Hiragino Sans"/>
              </a:rPr>
              <a:t>Project danjer-GAIA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94730" y="6476838"/>
            <a:ext cx="888977" cy="253993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AFB8C1"/>
                </a:solidFill>
                <a:latin typeface="Hiragino Sans"/>
              </a:rPr>
              <a:t>09 / 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