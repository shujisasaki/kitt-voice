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7987" y="507987"/>
            <a:ext cx="7619809" cy="3174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FFC72C"/>
                </a:solidFill>
                <a:latin typeface="Hiragino Sans"/>
              </a:rPr>
              <a:t>Project danjer-GAIA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987" y="1015974"/>
            <a:ext cx="10794730" cy="82547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Hiragino Sans"/>
              </a:rPr>
              <a:t>BTC 投資効率最大化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7987" y="2031949"/>
            <a:ext cx="10794730" cy="507987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0">
                <a:solidFill>
                  <a:srgbClr val="FFC72C"/>
                </a:solidFill>
                <a:latin typeface="Hiragino Sans"/>
              </a:rPr>
              <a:t>— danjerを教科書に、 AIが市場ゲームで成長する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7987" y="3365415"/>
            <a:ext cx="3682907" cy="1777955"/>
          </a:xfrm>
          <a:prstGeom prst="roundRect">
            <a:avLst/>
          </a:prstGeom>
          <a:solidFill>
            <a:srgbClr val="252E4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8482" y="3524161"/>
            <a:ext cx="3428914" cy="38099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Hiragino Sans"/>
              </a:rPr>
              <a:t>成長型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482" y="3968650"/>
            <a:ext cx="3428914" cy="1142971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Hiragino Sans"/>
              </a:rPr>
              <a:t>bot ではなく、 相場のルール変更に
適応し続けるAI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4888" y="3365415"/>
            <a:ext cx="3682907" cy="1777955"/>
          </a:xfrm>
          <a:prstGeom prst="roundRect">
            <a:avLst/>
          </a:prstGeom>
          <a:solidFill>
            <a:srgbClr val="252E42"/>
          </a:solidFill>
          <a:ln w="12700">
            <a:solidFill>
              <a:srgbClr val="FFC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5384" y="3524161"/>
            <a:ext cx="3428914" cy="38099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FFC72C"/>
                </a:solidFill>
                <a:latin typeface="Hiragino Sans"/>
              </a:rPr>
              <a:t>右側予測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5384" y="3968650"/>
            <a:ext cx="3428914" cy="1142971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Hiragino Sans"/>
              </a:rPr>
              <a:t>チャート未来を 「方向 × 確信度 × 危険度」
の3軸で立体的に握る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81790" y="3365415"/>
            <a:ext cx="3682907" cy="1777955"/>
          </a:xfrm>
          <a:prstGeom prst="roundRect">
            <a:avLst/>
          </a:prstGeom>
          <a:solidFill>
            <a:srgbClr val="252E42"/>
          </a:solidFill>
          <a:ln w="12700">
            <a:solidFill>
              <a:srgbClr val="FFC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72285" y="3524161"/>
            <a:ext cx="3428914" cy="38099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FFC72C"/>
                </a:solidFill>
                <a:latin typeface="Hiragino Sans"/>
              </a:rPr>
              <a:t>投資効率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285" y="3968650"/>
            <a:ext cx="3428914" cy="1142971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Hiragino Sans"/>
              </a:rPr>
              <a:t>時間あたり利益 × 元手効率
( = 時給 × 元手効率 = Trade-EHR 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987" y="5524361"/>
            <a:ext cx="11175720" cy="3174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>
                <a:solidFill>
                  <a:srgbClr val="AFB8C1"/>
                </a:solidFill>
                <a:latin typeface="Hiragino Sans"/>
              </a:rPr>
              <a:t>8ヶ月で 検証可能な弟子AI まで進める / Day 1-14 で 動く土台 7つ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987" y="6476838"/>
            <a:ext cx="5079873" cy="25399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AFB8C1"/>
                </a:solidFill>
                <a:latin typeface="Hiragino Sans"/>
              </a:rPr>
              <a:t>Project danjer-GAIA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94730" y="6476838"/>
            <a:ext cx="888977" cy="25399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AFB8C1"/>
                </a:solidFill>
                <a:latin typeface="Hiragino Sans"/>
              </a:rPr>
              <a:t>01 / 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7987" y="507987"/>
            <a:ext cx="11175720" cy="507987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Hiragino Sans"/>
              </a:rPr>
              <a:t>相場の変化に適応し続ける 「弟子AI」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987" y="1111222"/>
            <a:ext cx="11175720" cy="3174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0">
                <a:solidFill>
                  <a:srgbClr val="AFB8C1"/>
                </a:solidFill>
                <a:latin typeface="Hiragino Sans"/>
              </a:rPr>
              <a:t>固定ロジックbotは 賞味期限切れで破綻 — GAIAは 相場のルール変更に学び直す</a:t>
            </a:r>
          </a:p>
        </p:txBody>
      </p:sp>
      <p:pic>
        <p:nvPicPr>
          <p:cNvPr id="4" name="Picture 3" descr="s2_paradig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87" y="1650958"/>
            <a:ext cx="11175720" cy="48579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7987" y="5968850"/>
            <a:ext cx="11175720" cy="38099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>
                <a:solidFill>
                  <a:srgbClr val="FFC72C"/>
                </a:solidFill>
                <a:latin typeface="Hiragino Sans"/>
              </a:rPr>
              <a:t>Shujiさんが嫌うのは 「成長しない固定bot」 — GAIAは自動実行を否定しない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987" y="6476838"/>
            <a:ext cx="5079873" cy="25399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AFB8C1"/>
                </a:solidFill>
                <a:latin typeface="Hiragino Sans"/>
              </a:rPr>
              <a:t>Project danjer-GAIA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94730" y="6476838"/>
            <a:ext cx="888977" cy="25399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AFB8C1"/>
                </a:solidFill>
                <a:latin typeface="Hiragino Sans"/>
              </a:rPr>
              <a:t>02 / 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7987" y="507987"/>
            <a:ext cx="11175720" cy="507987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Hiragino Sans"/>
              </a:rPr>
              <a:t>danjer DNA の抽出プロセス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987" y="1111222"/>
            <a:ext cx="11175720" cy="3174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0">
                <a:solidFill>
                  <a:srgbClr val="AFB8C1"/>
                </a:solidFill>
                <a:latin typeface="Hiragino Sans"/>
              </a:rPr>
              <a:t>「教科書」を軽視しない。 だからこそ、 ノイズと戦略を徹底的に分離する</a:t>
            </a:r>
          </a:p>
        </p:txBody>
      </p:sp>
      <p:pic>
        <p:nvPicPr>
          <p:cNvPr id="4" name="Picture 3" descr="s3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5911" y="1777955"/>
            <a:ext cx="5079873" cy="4447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7987" y="2285942"/>
            <a:ext cx="2920926" cy="228594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C72C"/>
                </a:solidFill>
                <a:latin typeface="Hiragino Sans"/>
              </a:rPr>
              <a:t>「質」で絞る ≠ 売買発言だけ</a:t>
            </a: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FFFFFF"/>
                </a:solidFill>
                <a:latin typeface="Hiragino Sans"/>
              </a:rPr>
              <a:t>常駐対象に含めるもの: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Hiragino Sans"/>
              </a:rPr>
              <a:t>・売買判断ポスト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Hiragino Sans"/>
              </a:rPr>
              <a:t>・失敗の反省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Hiragino Sans"/>
              </a:rPr>
              <a:t>・警戒姿勢 (罠の匂い)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Hiragino Sans"/>
              </a:rPr>
              <a:t>・相場観・利確判断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AFB8C1"/>
                </a:solidFill>
                <a:latin typeface="Hiragino Sans"/>
              </a:rPr>
              <a:t>※ 雑談 / 個人事情は除外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2780" y="2412939"/>
            <a:ext cx="3047923" cy="203194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C72C"/>
                </a:solidFill>
                <a:latin typeface="Hiragino Sans"/>
              </a:rPr>
              <a:t>完成したDNAは</a:t>
            </a:r>
          </a:p>
          <a:p>
            <a:pPr algn="l">
              <a:lnSpc>
                <a:spcPct val="130000"/>
              </a:lnSpc>
            </a:pPr>
            <a:r>
              <a:rPr sz="1800" b="0">
                <a:solidFill>
                  <a:srgbClr val="FFFFFF"/>
                </a:solidFill>
                <a:latin typeface="Hiragino Sans"/>
              </a:rPr>
              <a:t>Slow Brain (頭脳) が</a:t>
            </a:r>
          </a:p>
          <a:p>
            <a:pPr algn="l">
              <a:lnSpc>
                <a:spcPct val="130000"/>
              </a:lnSpc>
            </a:pPr>
            <a:r>
              <a:rPr sz="1800" b="0">
                <a:solidFill>
                  <a:srgbClr val="FFFFFF"/>
                </a:solidFill>
                <a:latin typeface="Hiragino Sans"/>
              </a:rPr>
              <a:t>戦略を組み立てるための</a:t>
            </a:r>
          </a:p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C72C"/>
                </a:solidFill>
                <a:latin typeface="Hiragino Sans"/>
              </a:rPr>
              <a:t>絶対的なベースライン (地図)</a:t>
            </a:r>
          </a:p>
          <a:p>
            <a:pPr algn="l">
              <a:lnSpc>
                <a:spcPct val="130000"/>
              </a:lnSpc>
            </a:pPr>
            <a:r>
              <a:rPr sz="1800" b="0">
                <a:solidFill>
                  <a:srgbClr val="FFFFFF"/>
                </a:solidFill>
                <a:latin typeface="Hiragino Sans"/>
              </a:rPr>
              <a:t>となる。 そしてAIはそれを超える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987" y="6476838"/>
            <a:ext cx="5079873" cy="25399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AFB8C1"/>
                </a:solidFill>
                <a:latin typeface="Hiragino Sans"/>
              </a:rPr>
              <a:t>Project danjer-GAIA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94730" y="6476838"/>
            <a:ext cx="888977" cy="25399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AFB8C1"/>
                </a:solidFill>
                <a:latin typeface="Hiragino Sans"/>
              </a:rPr>
              <a:t>03 / 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7987" y="507987"/>
            <a:ext cx="11175720" cy="507987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Hiragino Sans"/>
              </a:rPr>
              <a:t>未来 (右側) を捉える 3つの座標軸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987" y="1111222"/>
            <a:ext cx="11175720" cy="3174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0">
                <a:solidFill>
                  <a:srgbClr val="AFB8C1"/>
                </a:solidFill>
                <a:latin typeface="Hiragino Sans"/>
              </a:rPr>
              <a:t>1つの未来を当てるのではなく、 方向×確信度×危険度の3軸で 「立体ホールド」 する</a:t>
            </a:r>
          </a:p>
        </p:txBody>
      </p:sp>
      <p:pic>
        <p:nvPicPr>
          <p:cNvPr id="4" name="Picture 3" descr="s4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0895" y="1777955"/>
            <a:ext cx="3809904" cy="36499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7987" y="5524361"/>
            <a:ext cx="11175720" cy="634984"/>
          </a:xfrm>
          <a:prstGeom prst="roundRect">
            <a:avLst/>
          </a:prstGeom>
          <a:solidFill>
            <a:srgbClr val="252E42"/>
          </a:solidFill>
          <a:ln w="12700">
            <a:solidFill>
              <a:srgbClr val="FFC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7987" y="5524361"/>
            <a:ext cx="11175720" cy="63498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200" b="1">
                <a:solidFill>
                  <a:srgbClr val="FFC72C"/>
                </a:solidFill>
                <a:latin typeface="Hiragino Sans"/>
              </a:rPr>
              <a:t>確信度が 高く、 かつ 危険度が 低い 局面 (圧倒的優位性) においてのみ、 レバレッジを 動的に引き上げる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987" y="6476838"/>
            <a:ext cx="5079873" cy="25399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AFB8C1"/>
                </a:solidFill>
                <a:latin typeface="Hiragino Sans"/>
              </a:rPr>
              <a:t>Project danjer-GAIA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94730" y="6476838"/>
            <a:ext cx="888977" cy="25399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AFB8C1"/>
                </a:solidFill>
                <a:latin typeface="Hiragino Sans"/>
              </a:rPr>
              <a:t>04 / 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7987" y="507987"/>
            <a:ext cx="11175720" cy="507987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Hiragino Sans"/>
              </a:rPr>
              <a:t>レジーム (相場の4つの顔) とマトリクス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987" y="1111222"/>
            <a:ext cx="11175720" cy="3174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0">
                <a:solidFill>
                  <a:srgbClr val="AFB8C1"/>
                </a:solidFill>
                <a:latin typeface="Hiragino Sans"/>
              </a:rPr>
              <a:t>ボラ × トレンドの4象限で レバを 自動で 上下する — 攻めるべき時だけ攻める</a:t>
            </a:r>
          </a:p>
        </p:txBody>
      </p:sp>
      <p:pic>
        <p:nvPicPr>
          <p:cNvPr id="4" name="Picture 3" descr="s5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955" y="1777955"/>
            <a:ext cx="8635784" cy="55043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7987" y="6032349"/>
            <a:ext cx="11175720" cy="3174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600" b="0">
                <a:solidFill>
                  <a:srgbClr val="AFB8C1"/>
                </a:solidFill>
                <a:latin typeface="Hiragino Sans"/>
              </a:rPr>
              <a:t>レジーム判定は ATR × Slope を ローリング・パーセンタイル で 動的に閾値設定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987" y="6476838"/>
            <a:ext cx="5079873" cy="25399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AFB8C1"/>
                </a:solidFill>
                <a:latin typeface="Hiragino Sans"/>
              </a:rPr>
              <a:t>Project danjer-GAIA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94730" y="6476838"/>
            <a:ext cx="888977" cy="25399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AFB8C1"/>
                </a:solidFill>
                <a:latin typeface="Hiragino Sans"/>
              </a:rPr>
              <a:t>05 / 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7987" y="507987"/>
            <a:ext cx="11175720" cy="507987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Hiragino Sans"/>
              </a:rPr>
              <a:t>損切りは AIの判断より前 — 三重の防護壁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987" y="1111222"/>
            <a:ext cx="11175720" cy="3174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0">
                <a:solidFill>
                  <a:srgbClr val="AFB8C1"/>
                </a:solidFill>
                <a:latin typeface="Hiragino Sans"/>
              </a:rPr>
              <a:t>AIが判断する前に 3つの関門で 「破滅」 を 物理的に止める</a:t>
            </a:r>
          </a:p>
        </p:txBody>
      </p:sp>
      <p:pic>
        <p:nvPicPr>
          <p:cNvPr id="4" name="Picture 3" descr="s6_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87" y="1777955"/>
            <a:ext cx="11175720" cy="480381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7987" y="5524361"/>
            <a:ext cx="11175720" cy="634984"/>
          </a:xfrm>
          <a:prstGeom prst="roundRect">
            <a:avLst/>
          </a:prstGeom>
          <a:solidFill>
            <a:srgbClr val="252E42"/>
          </a:solidFill>
          <a:ln w="12700">
            <a:solidFill>
              <a:srgbClr val="FFC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7987" y="5524361"/>
            <a:ext cx="11175720" cy="63498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400" b="1">
                <a:solidFill>
                  <a:srgbClr val="FFC72C"/>
                </a:solidFill>
                <a:latin typeface="Hiragino Sans"/>
              </a:rPr>
              <a:t>SL なしの注文は 出さない。 エントリーと同時に 損切りを 置く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987" y="6476838"/>
            <a:ext cx="5079873" cy="25399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AFB8C1"/>
                </a:solidFill>
                <a:latin typeface="Hiragino Sans"/>
              </a:rPr>
              <a:t>Project danjer-GAIA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94730" y="6476838"/>
            <a:ext cx="888977" cy="25399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AFB8C1"/>
                </a:solidFill>
                <a:latin typeface="Hiragino Sans"/>
              </a:rPr>
              <a:t>06 / 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7987" y="507987"/>
            <a:ext cx="11175720" cy="507987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Hiragino Sans"/>
              </a:rPr>
              <a:t>15分 TTL (賞味期限) と デッドロック解消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987" y="1111222"/>
            <a:ext cx="11175720" cy="3174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0">
                <a:solidFill>
                  <a:srgbClr val="AFB8C1"/>
                </a:solidFill>
                <a:latin typeface="Hiragino Sans"/>
              </a:rPr>
              <a:t>古い判断で 勝手に売買しない — Slow Brainの方針には 鉄の時間制限がある</a:t>
            </a:r>
          </a:p>
        </p:txBody>
      </p:sp>
      <p:pic>
        <p:nvPicPr>
          <p:cNvPr id="4" name="Picture 3" descr="s7_hourg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87" y="1841453"/>
            <a:ext cx="3809904" cy="44415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25879" y="1841453"/>
            <a:ext cx="6857828" cy="38099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FFC72C"/>
                </a:solidFill>
                <a:latin typeface="Hiragino Sans"/>
              </a:rPr>
              <a:t>時間による 鉄の統治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5879" y="2412939"/>
            <a:ext cx="6857828" cy="8254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FFFFFF"/>
                </a:solidFill>
                <a:latin typeface="Hiragino Sans"/>
              </a:rPr>
              <a:t>判断の賞味期限は </a:t>
            </a:r>
          </a:p>
          <a:p>
            <a:pPr algn="l">
              <a:lnSpc>
                <a:spcPct val="130000"/>
              </a:lnSpc>
            </a:pPr>
            <a:r>
              <a:rPr sz="2800" b="1">
                <a:solidFill>
                  <a:srgbClr val="FFC72C"/>
                </a:solidFill>
                <a:latin typeface="Hiragino Sans"/>
              </a:rPr>
              <a:t>「15分」</a:t>
            </a:r>
          </a:p>
          <a:p>
            <a:pPr algn="l">
              <a:lnSpc>
                <a:spcPct val="130000"/>
              </a:lnSpc>
            </a:pPr>
            <a:r>
              <a:rPr sz="1800" b="0">
                <a:solidFill>
                  <a:srgbClr val="FFFFFF"/>
                </a:solidFill>
                <a:latin typeface="Hiragino Sans"/>
              </a:rPr>
              <a:t>— TTL切れ後は 新規エントリーを 完全禁止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5879" y="3428914"/>
            <a:ext cx="6857828" cy="12699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FFFFFF"/>
                </a:solidFill>
                <a:latin typeface="Hiragino Sans"/>
              </a:rPr>
              <a:t>Slow Brainの応答停止が </a:t>
            </a:r>
          </a:p>
          <a:p>
            <a:pPr algn="l">
              <a:lnSpc>
                <a:spcPct val="130000"/>
              </a:lnSpc>
            </a:pPr>
            <a:r>
              <a:rPr sz="2800" b="1">
                <a:solidFill>
                  <a:srgbClr val="FF4D4D"/>
                </a:solidFill>
                <a:latin typeface="Hiragino Sans"/>
              </a:rPr>
              <a:t>「5分」</a:t>
            </a:r>
          </a:p>
          <a:p>
            <a:pPr algn="l">
              <a:lnSpc>
                <a:spcPct val="130000"/>
              </a:lnSpc>
            </a:pPr>
            <a:r>
              <a:rPr sz="1800" b="0">
                <a:solidFill>
                  <a:srgbClr val="FFFFFF"/>
                </a:solidFill>
                <a:latin typeface="Hiragino Sans"/>
              </a:rPr>
              <a:t>続いた場合、 異常事態とみなし安全装置作動</a:t>
            </a:r>
          </a:p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4D4D"/>
                </a:solidFill>
                <a:latin typeface="Hiragino Sans"/>
              </a:rPr>
              <a:t>→ 全ポジションの 縮小・強制クローズ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5879" y="4889377"/>
            <a:ext cx="6857828" cy="3174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FF4D4D"/>
                </a:solidFill>
                <a:latin typeface="Hiragino Sans"/>
              </a:rPr>
              <a:t>※ 一括成行による APIロック (429エラー) を回避するため、 ミリ秒単位のキューイング制御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987" y="6476838"/>
            <a:ext cx="5079873" cy="25399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AFB8C1"/>
                </a:solidFill>
                <a:latin typeface="Hiragino Sans"/>
              </a:rPr>
              <a:t>Project danjer-GAIA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4730" y="6476838"/>
            <a:ext cx="888977" cy="25399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AFB8C1"/>
                </a:solidFill>
                <a:latin typeface="Hiragino Sans"/>
              </a:rPr>
              <a:t>07 / 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7987" y="507987"/>
            <a:ext cx="11175720" cy="507987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Hiragino Sans"/>
              </a:rPr>
              <a:t>Day 1 - 14 開発・実装スケジュール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987" y="1111222"/>
            <a:ext cx="11175720" cy="3174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0">
                <a:solidFill>
                  <a:srgbClr val="AFB8C1"/>
                </a:solidFill>
                <a:latin typeface="Hiragino Sans"/>
              </a:rPr>
              <a:t>巨大設計書ではなく 「動くもの」 を 14日間で 7つ 作る</a:t>
            </a:r>
          </a:p>
        </p:txBody>
      </p:sp>
      <p:pic>
        <p:nvPicPr>
          <p:cNvPr id="4" name="Picture 3" descr="s8_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87" y="1650958"/>
            <a:ext cx="11175720" cy="52677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7987" y="6032349"/>
            <a:ext cx="11175720" cy="3174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600" b="0">
                <a:solidFill>
                  <a:srgbClr val="FFC72C"/>
                </a:solidFill>
                <a:latin typeface="Hiragino Sans"/>
              </a:rPr>
              <a:t>※ Trade-EHR から着手 (評価軸が無いと他が無意味)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987" y="6476838"/>
            <a:ext cx="5079873" cy="25399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AFB8C1"/>
                </a:solidFill>
                <a:latin typeface="Hiragino Sans"/>
              </a:rPr>
              <a:t>Project danjer-GAIA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94730" y="6476838"/>
            <a:ext cx="888977" cy="25399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AFB8C1"/>
                </a:solidFill>
                <a:latin typeface="Hiragino Sans"/>
              </a:rPr>
              <a:t>08 / 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7987" y="507987"/>
            <a:ext cx="11175720" cy="507987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Hiragino Sans"/>
              </a:rPr>
              <a:t>Shujiさんに 本日決断いただく 3つの 大枠方向性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987" y="1111222"/>
            <a:ext cx="11175720" cy="3174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0">
                <a:solidFill>
                  <a:srgbClr val="AFB8C1"/>
                </a:solidFill>
                <a:latin typeface="Hiragino Sans"/>
              </a:rPr>
              <a:t>実弾金額や細かな数値は Phase 3 以降に持ち越し — まず方向と優先順位だけ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7987" y="1841453"/>
            <a:ext cx="11175720" cy="1269968"/>
          </a:xfrm>
          <a:prstGeom prst="roundRect">
            <a:avLst/>
          </a:prstGeom>
          <a:solidFill>
            <a:srgbClr val="252E42"/>
          </a:solidFill>
          <a:ln w="12700">
            <a:solidFill>
              <a:srgbClr val="FFC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1980" y="2031949"/>
            <a:ext cx="825479" cy="82547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4400" b="1">
                <a:solidFill>
                  <a:srgbClr val="FFC72C"/>
                </a:solidFill>
                <a:latin typeface="Hiragino San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77955" y="2000199"/>
            <a:ext cx="9524761" cy="3174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>
                <a:solidFill>
                  <a:srgbClr val="FFC72C"/>
                </a:solidFill>
                <a:latin typeface="Hiragino Sans"/>
              </a:rPr>
              <a:t>コードネーム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77955" y="2349441"/>
            <a:ext cx="9524761" cy="38099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iragino Sans"/>
              </a:rPr>
              <a:t>Project danjer-GAIA で 進めるか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77955" y="2762180"/>
            <a:ext cx="9524761" cy="3174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AFB8C1"/>
                </a:solidFill>
                <a:latin typeface="Hiragino Sans"/>
              </a:rPr>
              <a:t>GPT/Gemini/Claude 3者推奨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987" y="3238419"/>
            <a:ext cx="11175720" cy="1269968"/>
          </a:xfrm>
          <a:prstGeom prst="roundRect">
            <a:avLst/>
          </a:prstGeom>
          <a:solidFill>
            <a:srgbClr val="252E42"/>
          </a:solidFill>
          <a:ln w="12700">
            <a:solidFill>
              <a:srgbClr val="FFC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980" y="3428914"/>
            <a:ext cx="825479" cy="82547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4400" b="1">
                <a:solidFill>
                  <a:srgbClr val="FFC72C"/>
                </a:solidFill>
                <a:latin typeface="Hiragino San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77955" y="3397165"/>
            <a:ext cx="9524761" cy="3174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>
                <a:solidFill>
                  <a:srgbClr val="FFC72C"/>
                </a:solidFill>
                <a:latin typeface="Hiragino Sans"/>
              </a:rPr>
              <a:t>最優先フェーズ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77955" y="3746406"/>
            <a:ext cx="9524761" cy="38099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iragino Sans"/>
              </a:rPr>
              <a:t>danjer DNA を 「質ベース」 で 抽出し、 Day 1 から着手してよいか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77955" y="4159146"/>
            <a:ext cx="9524761" cy="3174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AFB8C1"/>
                </a:solidFill>
                <a:latin typeface="Hiragino Sans"/>
              </a:rPr>
              <a:t>※ 件数で絞らず 質で絞る (Shujiさん Q1 回答反映)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987" y="4635384"/>
            <a:ext cx="11175720" cy="1269968"/>
          </a:xfrm>
          <a:prstGeom prst="roundRect">
            <a:avLst/>
          </a:prstGeom>
          <a:solidFill>
            <a:srgbClr val="252E42"/>
          </a:solidFill>
          <a:ln w="12700">
            <a:solidFill>
              <a:srgbClr val="FFC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1980" y="4825879"/>
            <a:ext cx="825479" cy="82547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4400" b="1">
                <a:solidFill>
                  <a:srgbClr val="FFC72C"/>
                </a:solidFill>
                <a:latin typeface="Hiragino San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77955" y="4794130"/>
            <a:ext cx="9524761" cy="3174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>
                <a:solidFill>
                  <a:srgbClr val="FFC72C"/>
                </a:solidFill>
                <a:latin typeface="Hiragino Sans"/>
              </a:rPr>
              <a:t>運用順序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77955" y="5143371"/>
            <a:ext cx="9524761" cy="38099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iragino Sans"/>
              </a:rPr>
              <a:t>紙トレ → 0.0001 BTC 小額実弾 → 完全自動売買 の順 で進めるか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77955" y="5556111"/>
            <a:ext cx="9524761" cy="3174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AFB8C1"/>
                </a:solidFill>
                <a:latin typeface="Hiragino Sans"/>
              </a:rPr>
              <a:t>※ いきなり実弾はしない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987" y="6476838"/>
            <a:ext cx="5079873" cy="25399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AFB8C1"/>
                </a:solidFill>
                <a:latin typeface="Hiragino Sans"/>
              </a:rPr>
              <a:t>Project danjer-GAIA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94730" y="6476838"/>
            <a:ext cx="888977" cy="25399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AFB8C1"/>
                </a:solidFill>
                <a:latin typeface="Hiragino Sans"/>
              </a:rPr>
              <a:t>09 /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7987" y="507987"/>
            <a:ext cx="11175720" cy="38099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iragino Sans"/>
              </a:rPr>
              <a:t>v1 / v2 / v3 戦略比較 — 何が変わったか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7987" y="1047723"/>
            <a:ext cx="1562060" cy="317492"/>
          </a:xfrm>
          <a:prstGeom prst="roundRect">
            <a:avLst/>
          </a:prstGeom>
          <a:solidFill>
            <a:srgbClr val="252E42"/>
          </a:solidFill>
          <a:ln w="12700">
            <a:solidFill>
              <a:srgbClr val="FFC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485" y="1079473"/>
            <a:ext cx="1435064" cy="25399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300" b="1">
                <a:solidFill>
                  <a:srgbClr val="FFC72C"/>
                </a:solidFill>
                <a:latin typeface="Hiragino Sans"/>
              </a:rPr>
              <a:t>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95447" y="1047723"/>
            <a:ext cx="1943051" cy="317492"/>
          </a:xfrm>
          <a:prstGeom prst="roundRect">
            <a:avLst/>
          </a:prstGeom>
          <a:solidFill>
            <a:srgbClr val="252E42"/>
          </a:solidFill>
          <a:ln w="12700">
            <a:solidFill>
              <a:srgbClr val="FFC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58946" y="1079473"/>
            <a:ext cx="1816054" cy="25399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300" b="1">
                <a:solidFill>
                  <a:srgbClr val="FFC72C"/>
                </a:solidFill>
                <a:latin typeface="Hiragino Sans"/>
              </a:rPr>
              <a:t>v1 (14ラウンド)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3898" y="1047723"/>
            <a:ext cx="1943051" cy="317492"/>
          </a:xfrm>
          <a:prstGeom prst="roundRect">
            <a:avLst/>
          </a:prstGeom>
          <a:solidFill>
            <a:srgbClr val="252E42"/>
          </a:solidFill>
          <a:ln w="12700">
            <a:solidFill>
              <a:srgbClr val="FFC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27396" y="1079473"/>
            <a:ext cx="1816054" cy="25399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300" b="1">
                <a:solidFill>
                  <a:srgbClr val="FFC72C"/>
                </a:solidFill>
                <a:latin typeface="Hiragino Sans"/>
              </a:rPr>
              <a:t>v2 (徹夜)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2349" y="1047723"/>
            <a:ext cx="2070048" cy="317492"/>
          </a:xfrm>
          <a:prstGeom prst="roundRect">
            <a:avLst/>
          </a:prstGeom>
          <a:solidFill>
            <a:srgbClr val="252E42"/>
          </a:solidFill>
          <a:ln w="12700">
            <a:solidFill>
              <a:srgbClr val="FFC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5847" y="1079473"/>
            <a:ext cx="1943051" cy="25399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300" b="1">
                <a:solidFill>
                  <a:srgbClr val="FFC72C"/>
                </a:solidFill>
                <a:latin typeface="Hiragino Sans"/>
              </a:rPr>
              <a:t>v3 (本気3者)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987" y="1428714"/>
            <a:ext cx="1562060" cy="285742"/>
          </a:xfrm>
          <a:prstGeom prst="roundRect">
            <a:avLst/>
          </a:prstGeom>
          <a:solidFill>
            <a:srgbClr val="252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1485" y="1454113"/>
            <a:ext cx="1435064" cy="24129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iragino Sans"/>
              </a:rPr>
              <a:t>議論方式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95447" y="1428714"/>
            <a:ext cx="1943051" cy="285742"/>
          </a:xfrm>
          <a:prstGeom prst="roundRect">
            <a:avLst/>
          </a:prstGeom>
          <a:solidFill>
            <a:srgbClr val="252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58946" y="1454113"/>
            <a:ext cx="1816054" cy="24129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iragino Sans"/>
              </a:rPr>
              <a:t>14ラウンド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63898" y="1428714"/>
            <a:ext cx="1943051" cy="285742"/>
          </a:xfrm>
          <a:prstGeom prst="roundRect">
            <a:avLst/>
          </a:prstGeom>
          <a:solidFill>
            <a:srgbClr val="252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27396" y="1454113"/>
            <a:ext cx="1816054" cy="24129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iragino Sans"/>
              </a:rPr>
              <a:t>7ラウンド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2349" y="1428714"/>
            <a:ext cx="2070048" cy="285742"/>
          </a:xfrm>
          <a:prstGeom prst="roundRect">
            <a:avLst/>
          </a:prstGeom>
          <a:solidFill>
            <a:srgbClr val="252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5847" y="1454113"/>
            <a:ext cx="1943051" cy="24129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iragino Sans"/>
              </a:rPr>
              <a:t>20ラウンド ぐるぐる無制限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7987" y="1746206"/>
            <a:ext cx="1562060" cy="285742"/>
          </a:xfrm>
          <a:prstGeom prst="round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485" y="1771605"/>
            <a:ext cx="1435064" cy="24129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iragino Sans"/>
              </a:rPr>
              <a:t>投資効率指標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447" y="1746206"/>
            <a:ext cx="1943051" cy="285742"/>
          </a:xfrm>
          <a:prstGeom prst="round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58946" y="1771605"/>
            <a:ext cx="1816054" cy="24129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iragino Sans"/>
              </a:rPr>
              <a:t>SAC-Lagrangian + 月コスト目標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63898" y="1746206"/>
            <a:ext cx="1943051" cy="285742"/>
          </a:xfrm>
          <a:prstGeom prst="round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27396" y="1771605"/>
            <a:ext cx="1816054" cy="24129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iragino Sans"/>
              </a:rPr>
              <a:t>ProfitPerHour (バグ含)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2349" y="1746206"/>
            <a:ext cx="2070048" cy="285742"/>
          </a:xfrm>
          <a:prstGeom prst="round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95847" y="1771605"/>
            <a:ext cx="1943051" cy="24129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iragino Sans"/>
              </a:rPr>
              <a:t>Trade-EHR (分母ガード+MA30)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7987" y="2063698"/>
            <a:ext cx="1562060" cy="285742"/>
          </a:xfrm>
          <a:prstGeom prst="roundRect">
            <a:avLst/>
          </a:prstGeom>
          <a:solidFill>
            <a:srgbClr val="252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1485" y="2089097"/>
            <a:ext cx="1435064" cy="24129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iragino Sans"/>
              </a:rPr>
              <a:t>danjer移植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095447" y="2063698"/>
            <a:ext cx="1943051" cy="285742"/>
          </a:xfrm>
          <a:prstGeom prst="roundRect">
            <a:avLst/>
          </a:prstGeom>
          <a:solidFill>
            <a:srgbClr val="252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58946" y="2089097"/>
            <a:ext cx="1816054" cy="24129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iragino Sans"/>
              </a:rPr>
              <a:t>DNA-0〜3段階, BC試験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63898" y="2063698"/>
            <a:ext cx="1943051" cy="285742"/>
          </a:xfrm>
          <a:prstGeom prst="roundRect">
            <a:avLst/>
          </a:prstGeom>
          <a:solidFill>
            <a:srgbClr val="252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27396" y="2089097"/>
            <a:ext cx="1816054" cy="24129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iragino Sans"/>
              </a:rPr>
              <a:t>RAG+常駐 49,667件全件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32349" y="2063698"/>
            <a:ext cx="2070048" cy="285742"/>
          </a:xfrm>
          <a:prstGeom prst="roundRect">
            <a:avLst/>
          </a:prstGeom>
          <a:solidFill>
            <a:srgbClr val="252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95847" y="2089097"/>
            <a:ext cx="1943051" cy="24129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iragino Sans"/>
              </a:rPr>
              <a:t>質ベース絞り込み (投資判断のみ常駐)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7987" y="2381190"/>
            <a:ext cx="1562060" cy="285742"/>
          </a:xfrm>
          <a:prstGeom prst="round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1485" y="2406589"/>
            <a:ext cx="1435064" cy="24129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iragino Sans"/>
              </a:rPr>
              <a:t>アーキ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095447" y="2381190"/>
            <a:ext cx="1943051" cy="285742"/>
          </a:xfrm>
          <a:prstGeom prst="round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58946" y="2406589"/>
            <a:ext cx="1816054" cy="24129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iragino Sans"/>
              </a:rPr>
              <a:t>10エージェント + Particle Filter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063898" y="2381190"/>
            <a:ext cx="1943051" cy="285742"/>
          </a:xfrm>
          <a:prstGeom prst="round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27396" y="2406589"/>
            <a:ext cx="1816054" cy="24129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iragino Sans"/>
              </a:rPr>
              <a:t>3つの魂 (攻め/守り/師匠)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32349" y="2381190"/>
            <a:ext cx="2070048" cy="285742"/>
          </a:xfrm>
          <a:prstGeom prst="round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95847" y="2406589"/>
            <a:ext cx="1943051" cy="24129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iragino Sans"/>
              </a:rPr>
              <a:t>GAIA-Triad 2.0 (4ノード)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7987" y="2698682"/>
            <a:ext cx="1562060" cy="285742"/>
          </a:xfrm>
          <a:prstGeom prst="roundRect">
            <a:avLst/>
          </a:prstGeom>
          <a:solidFill>
            <a:srgbClr val="252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1485" y="2724081"/>
            <a:ext cx="1435064" cy="24129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iragino Sans"/>
              </a:rPr>
              <a:t>右側予測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095447" y="2698682"/>
            <a:ext cx="1943051" cy="285742"/>
          </a:xfrm>
          <a:prstGeom prst="roundRect">
            <a:avLst/>
          </a:prstGeom>
          <a:solidFill>
            <a:srgbClr val="252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58946" y="2724081"/>
            <a:ext cx="1816054" cy="24129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iragino Sans"/>
              </a:rPr>
              <a:t>Scenario DSL 述語25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063898" y="2698682"/>
            <a:ext cx="1943051" cy="285742"/>
          </a:xfrm>
          <a:prstGeom prst="roundRect">
            <a:avLst/>
          </a:prstGeom>
          <a:solidFill>
            <a:srgbClr val="252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27396" y="2724081"/>
            <a:ext cx="1816054" cy="24129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iragino Sans"/>
              </a:rPr>
              <a:t>Probabilistic Deep Hedging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032349" y="2698682"/>
            <a:ext cx="2070048" cy="285742"/>
          </a:xfrm>
          <a:prstGeom prst="roundRect">
            <a:avLst/>
          </a:prstGeom>
          <a:solidFill>
            <a:srgbClr val="252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95847" y="2724081"/>
            <a:ext cx="1943051" cy="24129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iragino Sans"/>
              </a:rPr>
              <a:t>3軸 (方向/確信度/危険度)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7987" y="3016174"/>
            <a:ext cx="1562060" cy="285742"/>
          </a:xfrm>
          <a:prstGeom prst="round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1485" y="3041573"/>
            <a:ext cx="1435064" cy="24129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iragino Sans"/>
              </a:rPr>
              <a:t>レバ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095447" y="3016174"/>
            <a:ext cx="1943051" cy="285742"/>
          </a:xfrm>
          <a:prstGeom prst="round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158946" y="3041573"/>
            <a:ext cx="1816054" cy="24129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iragino Sans"/>
              </a:rPr>
              <a:t>Half-Kelly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063898" y="3016174"/>
            <a:ext cx="1943051" cy="285742"/>
          </a:xfrm>
          <a:prstGeom prst="round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27396" y="3041573"/>
            <a:ext cx="1816054" cy="24129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iragino Sans"/>
              </a:rPr>
              <a:t>Half-Kelly + 制約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032349" y="3016174"/>
            <a:ext cx="2070048" cy="285742"/>
          </a:xfrm>
          <a:prstGeom prst="round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95847" y="3041573"/>
            <a:ext cx="1943051" cy="24129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iragino Sans"/>
              </a:rPr>
              <a:t>Half-Kelly × Confidence × Vol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07987" y="3333666"/>
            <a:ext cx="1562060" cy="285742"/>
          </a:xfrm>
          <a:prstGeom prst="roundRect">
            <a:avLst/>
          </a:prstGeom>
          <a:solidFill>
            <a:srgbClr val="252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71485" y="3359066"/>
            <a:ext cx="1435064" cy="24129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iragino Sans"/>
              </a:rPr>
              <a:t>リスク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095447" y="3333666"/>
            <a:ext cx="1943051" cy="285742"/>
          </a:xfrm>
          <a:prstGeom prst="roundRect">
            <a:avLst/>
          </a:prstGeom>
          <a:solidFill>
            <a:srgbClr val="252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158946" y="3359066"/>
            <a:ext cx="1816054" cy="24129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iragino Sans"/>
              </a:rPr>
              <a:t>Risk Engine 6層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063898" y="3333666"/>
            <a:ext cx="1943051" cy="285742"/>
          </a:xfrm>
          <a:prstGeom prst="roundRect">
            <a:avLst/>
          </a:prstGeom>
          <a:solidFill>
            <a:srgbClr val="252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27396" y="3359066"/>
            <a:ext cx="1816054" cy="24129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iragino Sans"/>
              </a:rPr>
              <a:t>注文前検問 6step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032349" y="3333666"/>
            <a:ext cx="2070048" cy="285742"/>
          </a:xfrm>
          <a:prstGeom prst="roundRect">
            <a:avLst/>
          </a:prstGeom>
          <a:solidFill>
            <a:srgbClr val="252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095847" y="3359066"/>
            <a:ext cx="1943051" cy="24129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iragino Sans"/>
              </a:rPr>
              <a:t>Fast Guard / Risk Engine 二層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07987" y="3651158"/>
            <a:ext cx="1562060" cy="285742"/>
          </a:xfrm>
          <a:prstGeom prst="round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71485" y="3676558"/>
            <a:ext cx="1435064" cy="24129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iragino Sans"/>
              </a:rPr>
              <a:t>デッドロック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095447" y="3651158"/>
            <a:ext cx="1943051" cy="285742"/>
          </a:xfrm>
          <a:prstGeom prst="round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58946" y="3676558"/>
            <a:ext cx="1816054" cy="24129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iragino Sans"/>
              </a:rPr>
              <a:t>未検討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063898" y="3651158"/>
            <a:ext cx="1943051" cy="285742"/>
          </a:xfrm>
          <a:prstGeom prst="round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127396" y="3676558"/>
            <a:ext cx="1816054" cy="24129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iragino Sans"/>
              </a:rPr>
              <a:t>未検討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032349" y="3651158"/>
            <a:ext cx="2070048" cy="285742"/>
          </a:xfrm>
          <a:prstGeom prst="round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095847" y="3676558"/>
            <a:ext cx="1943051" cy="24129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iragino Sans"/>
              </a:rPr>
              <a:t>TTL + 階層化スタンス (15分)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07987" y="3968650"/>
            <a:ext cx="1562060" cy="285742"/>
          </a:xfrm>
          <a:prstGeom prst="roundRect">
            <a:avLst/>
          </a:prstGeom>
          <a:solidFill>
            <a:srgbClr val="252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71485" y="3994050"/>
            <a:ext cx="1435064" cy="24129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iragino Sans"/>
              </a:rPr>
              <a:t>検証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2095447" y="3968650"/>
            <a:ext cx="1943051" cy="285742"/>
          </a:xfrm>
          <a:prstGeom prst="roundRect">
            <a:avLst/>
          </a:prstGeom>
          <a:solidFill>
            <a:srgbClr val="252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158946" y="3994050"/>
            <a:ext cx="1816054" cy="24129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iragino Sans"/>
              </a:rPr>
              <a:t>CPCV N=10 / DSR / PSR / PBO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063898" y="3968650"/>
            <a:ext cx="1943051" cy="285742"/>
          </a:xfrm>
          <a:prstGeom prst="roundRect">
            <a:avLst/>
          </a:prstGeom>
          <a:solidFill>
            <a:srgbClr val="252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127396" y="3994050"/>
            <a:ext cx="1816054" cy="24129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iragino Sans"/>
              </a:rPr>
              <a:t>CPCV + EVT 併用案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032349" y="3968650"/>
            <a:ext cx="2070048" cy="285742"/>
          </a:xfrm>
          <a:prstGeom prst="roundRect">
            <a:avLst/>
          </a:prstGeom>
          <a:solidFill>
            <a:srgbClr val="252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095847" y="3994050"/>
            <a:ext cx="1943051" cy="24129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iragino Sans"/>
              </a:rPr>
              <a:t>CPCV + 動的閾値 + EVT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07987" y="4286142"/>
            <a:ext cx="1562060" cy="285742"/>
          </a:xfrm>
          <a:prstGeom prst="round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71485" y="4311542"/>
            <a:ext cx="1435064" cy="24129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iragino Sans"/>
              </a:rPr>
              <a:t>多取引所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2095447" y="4286142"/>
            <a:ext cx="1943051" cy="285742"/>
          </a:xfrm>
          <a:prstGeom prst="round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158946" y="4311542"/>
            <a:ext cx="1816054" cy="24129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iragino Sans"/>
              </a:rPr>
              <a:t>Bybit + Hyperliquid + OKX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063898" y="4286142"/>
            <a:ext cx="1943051" cy="285742"/>
          </a:xfrm>
          <a:prstGeom prst="round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127396" y="4311542"/>
            <a:ext cx="1816054" cy="24129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iragino Sans"/>
              </a:rPr>
              <a:t>同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032349" y="4286142"/>
            <a:ext cx="2070048" cy="285742"/>
          </a:xfrm>
          <a:prstGeom prst="round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095847" y="4311542"/>
            <a:ext cx="1943051" cy="24129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iragino Sans"/>
              </a:rPr>
              <a:t>同 + Rate Limit 対策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507987" y="4603634"/>
            <a:ext cx="1562060" cy="285742"/>
          </a:xfrm>
          <a:prstGeom prst="roundRect">
            <a:avLst/>
          </a:prstGeom>
          <a:solidFill>
            <a:srgbClr val="252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71485" y="4629034"/>
            <a:ext cx="1435064" cy="24129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iragino Sans"/>
              </a:rPr>
              <a:t>月コスト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2095447" y="4603634"/>
            <a:ext cx="1943051" cy="285742"/>
          </a:xfrm>
          <a:prstGeom prst="roundRect">
            <a:avLst/>
          </a:prstGeom>
          <a:solidFill>
            <a:srgbClr val="252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158946" y="4629034"/>
            <a:ext cx="1816054" cy="24129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iragino Sans"/>
              </a:rPr>
              <a:t>$135-400 (Phase別)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063898" y="4603634"/>
            <a:ext cx="1943051" cy="285742"/>
          </a:xfrm>
          <a:prstGeom prst="roundRect">
            <a:avLst/>
          </a:prstGeom>
          <a:solidFill>
            <a:srgbClr val="252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127396" y="4629034"/>
            <a:ext cx="1816054" cy="24129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iragino Sans"/>
              </a:rPr>
              <a:t>$50-100 (Cache想定)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032349" y="4603634"/>
            <a:ext cx="2070048" cy="285742"/>
          </a:xfrm>
          <a:prstGeom prst="roundRect">
            <a:avLst/>
          </a:prstGeom>
          <a:solidFill>
            <a:srgbClr val="252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095847" y="4629034"/>
            <a:ext cx="1943051" cy="24129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iragino Sans"/>
              </a:rPr>
              <a:t>$25-200 (POC後確定)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507987" y="4921126"/>
            <a:ext cx="1562060" cy="285742"/>
          </a:xfrm>
          <a:prstGeom prst="round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71485" y="4946526"/>
            <a:ext cx="1435064" cy="24129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iragino Sans"/>
              </a:rPr>
              <a:t>Phase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2095447" y="4921126"/>
            <a:ext cx="1943051" cy="285742"/>
          </a:xfrm>
          <a:prstGeom prst="round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158946" y="4946526"/>
            <a:ext cx="1816054" cy="24129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iragino Sans"/>
              </a:rPr>
              <a:t>Phase 1-5+ 8ヶ月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4063898" y="4921126"/>
            <a:ext cx="1943051" cy="285742"/>
          </a:xfrm>
          <a:prstGeom prst="round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127396" y="4946526"/>
            <a:ext cx="1816054" cy="24129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iragino Sans"/>
              </a:rPr>
              <a:t>同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6032349" y="4921126"/>
            <a:ext cx="2070048" cy="285742"/>
          </a:xfrm>
          <a:prstGeom prst="round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095847" y="4946526"/>
            <a:ext cx="1943051" cy="24129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iragino Sans"/>
              </a:rPr>
              <a:t>Day 1-14 動く土台7つ → Phase以降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507987" y="5238619"/>
            <a:ext cx="1562060" cy="285742"/>
          </a:xfrm>
          <a:prstGeom prst="roundRect">
            <a:avLst/>
          </a:prstGeom>
          <a:solidFill>
            <a:srgbClr val="252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71485" y="5264018"/>
            <a:ext cx="1435064" cy="24129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iragino Sans"/>
              </a:rPr>
              <a:t>議事録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2095447" y="5238619"/>
            <a:ext cx="1943051" cy="285742"/>
          </a:xfrm>
          <a:prstGeom prst="roundRect">
            <a:avLst/>
          </a:prstGeom>
          <a:solidFill>
            <a:srgbClr val="252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158946" y="5264018"/>
            <a:ext cx="1816054" cy="24129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iragino Sans"/>
              </a:rPr>
              <a:t>round_table.md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4063898" y="5238619"/>
            <a:ext cx="1943051" cy="285742"/>
          </a:xfrm>
          <a:prstGeom prst="roundRect">
            <a:avLst/>
          </a:prstGeom>
          <a:solidFill>
            <a:srgbClr val="252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127396" y="5264018"/>
            <a:ext cx="1816054" cy="24129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iragino Sans"/>
              </a:rPr>
              <a:t>round_table_v2.md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6032349" y="5238619"/>
            <a:ext cx="2070048" cy="285742"/>
          </a:xfrm>
          <a:prstGeom prst="roundRect">
            <a:avLst/>
          </a:prstGeom>
          <a:solidFill>
            <a:srgbClr val="252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095847" y="5264018"/>
            <a:ext cx="1943051" cy="24129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iragino Sans"/>
              </a:rPr>
              <a:t>round_table_v3.md (Live)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507987" y="5556111"/>
            <a:ext cx="1562060" cy="285742"/>
          </a:xfrm>
          <a:prstGeom prst="round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71485" y="5581510"/>
            <a:ext cx="1435064" cy="24129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1">
                <a:solidFill>
                  <a:srgbClr val="FFC72C"/>
                </a:solidFill>
                <a:latin typeface="Hiragino Sans"/>
              </a:rPr>
              <a:t>Shuji評価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2095447" y="5556111"/>
            <a:ext cx="1943051" cy="285742"/>
          </a:xfrm>
          <a:prstGeom prst="round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158946" y="5581510"/>
            <a:ext cx="1816054" cy="24129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1">
                <a:solidFill>
                  <a:srgbClr val="FF4D4D"/>
                </a:solidFill>
                <a:latin typeface="Hiragino Sans"/>
              </a:rPr>
              <a:t>10年前の新人レベル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4063898" y="5556111"/>
            <a:ext cx="1943051" cy="285742"/>
          </a:xfrm>
          <a:prstGeom prst="round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127396" y="5581510"/>
            <a:ext cx="1816054" cy="24129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1">
                <a:solidFill>
                  <a:srgbClr val="FFC72C"/>
                </a:solidFill>
                <a:latin typeface="Hiragino Sans"/>
              </a:rPr>
              <a:t>プロ品質、 ただし2人会議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6032349" y="5556111"/>
            <a:ext cx="2070048" cy="285742"/>
          </a:xfrm>
          <a:prstGeom prst="round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095847" y="5581510"/>
            <a:ext cx="1943051" cy="24129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1">
                <a:solidFill>
                  <a:srgbClr val="FFC72C"/>
                </a:solidFill>
                <a:latin typeface="Hiragino Sans"/>
              </a:rPr>
              <a:t>本気3者、 動線改善、 質ベース反映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8381790" y="1047723"/>
            <a:ext cx="3428914" cy="5524361"/>
          </a:xfrm>
          <a:prstGeom prst="roundRect">
            <a:avLst/>
          </a:prstGeom>
          <a:solidFill>
            <a:srgbClr val="252E42"/>
          </a:solidFill>
          <a:ln w="12700">
            <a:solidFill>
              <a:srgbClr val="FFC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508787" y="1142971"/>
            <a:ext cx="3174920" cy="28574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FFC72C"/>
                </a:solidFill>
                <a:latin typeface="Hiragino Sans"/>
              </a:rPr>
              <a:t>用語辞書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508787" y="1460463"/>
            <a:ext cx="3174920" cy="501637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C72C"/>
                </a:solidFill>
                <a:latin typeface="Hiragino Sans"/>
              </a:rPr>
              <a:t>SAC-Lagrangian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</a:rPr>
              <a:t>制約付きSoft Actor-Critic。リスク制約を満たしつつ報酬最大化する強化学習。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C72C"/>
                </a:solidFill>
                <a:latin typeface="Hiragino Sans"/>
              </a:rPr>
              <a:t>Trade-EHR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</a:rPr>
              <a:t>Equity-Hours Return = NetProfit/(AvgEquity×ElapsedHours)。 時給×元手効率。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C72C"/>
                </a:solidFill>
                <a:latin typeface="Hiragino Sans"/>
              </a:rPr>
              <a:t>MA30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</a:rPr>
              <a:t>直近30トレードの移動平均。EHRの揺らぎを平準化。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C72C"/>
                </a:solidFill>
                <a:latin typeface="Hiragino Sans"/>
              </a:rPr>
              <a:t>RAG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</a:rPr>
              <a:t>Retrieval-Augmented Generation。 検索拡張生成。 過去ポストを類似検索。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C72C"/>
                </a:solidFill>
                <a:latin typeface="Hiragino Sans"/>
              </a:rPr>
              <a:t>GAIA-Triad 2.0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</a:rPr>
              <a:t>Slow Brain+Risk Engine+Fast Guard+Order Gate の4ノード。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C72C"/>
                </a:solidFill>
                <a:latin typeface="Hiragino Sans"/>
              </a:rPr>
              <a:t>Particle Filter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</a:rPr>
              <a:t>粒子フィルタ。 複数シナリオを並走させ観測で確率を更新。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C72C"/>
                </a:solidFill>
                <a:latin typeface="Hiragino Sans"/>
              </a:rPr>
              <a:t>Half-Kelly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</a:rPr>
              <a:t>ケリー基準の半分。 安全側にレバを抑える。 p-(1-p)/b の半分。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C72C"/>
                </a:solidFill>
                <a:latin typeface="Hiragino Sans"/>
              </a:rPr>
              <a:t>TTL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</a:rPr>
              <a:t>Time-To-Live。 判断の賞味期限。 v3 では15分。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C72C"/>
                </a:solidFill>
                <a:latin typeface="Hiragino Sans"/>
              </a:rPr>
              <a:t>CPCV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</a:rPr>
              <a:t>Combinatorial Purged Cross-Validation。 過学習検出BT。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C72C"/>
                </a:solidFill>
                <a:latin typeface="Hiragino Sans"/>
              </a:rPr>
              <a:t>DSR/PSR/PBO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</a:rPr>
              <a:t>Deflated/Probabilistic Sharpe Ratio / Probability of Backtest Overfitting。 偶然勝ち検出。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C72C"/>
                </a:solidFill>
                <a:latin typeface="Hiragino Sans"/>
              </a:rPr>
              <a:t>EVT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</a:rPr>
              <a:t>Extreme Value Theory。 極値統計。 ファットテール対策。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C72C"/>
                </a:solidFill>
                <a:latin typeface="Hiragino Sans"/>
              </a:rPr>
              <a:t>Probabilistic Deep Hedging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</a:rPr>
              <a:t>複数シナリオに確率分布と最適ヘッジ比率を同時最適化。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07987" y="6476838"/>
            <a:ext cx="5079873" cy="25399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AFB8C1"/>
                </a:solidFill>
                <a:latin typeface="Hiragino Sans"/>
              </a:rPr>
              <a:t>Project danjer-GAIA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794730" y="6476838"/>
            <a:ext cx="888977" cy="25399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AFB8C1"/>
                </a:solidFill>
                <a:latin typeface="Hiragino Sans"/>
              </a:rPr>
              <a:t>10 / 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7987" y="507987"/>
            <a:ext cx="11175720" cy="38099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Hiragino Sans"/>
              </a:rPr>
              <a:t>v3 仕様書 — システム全体像 / 担当 / 使用ツール</a:t>
            </a:r>
          </a:p>
        </p:txBody>
      </p:sp>
      <p:pic>
        <p:nvPicPr>
          <p:cNvPr id="3" name="Picture 2" descr="s11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87" y="1015974"/>
            <a:ext cx="7619809" cy="41114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7987" y="4825879"/>
            <a:ext cx="7619809" cy="25399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FFC72C"/>
                </a:solidFill>
                <a:latin typeface="Hiragino Sans"/>
              </a:rPr>
              <a:t>担当 × 使用ツール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7987" y="5111622"/>
            <a:ext cx="2222444" cy="25399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FFC72C"/>
                </a:solidFill>
                <a:latin typeface="Hiragino Sans"/>
              </a:rPr>
              <a:t>Shujiさん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30431" y="5111622"/>
            <a:ext cx="2539936" cy="25399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iragino Sans"/>
              </a:rPr>
              <a:t>iPhone Safari / Keynote /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70368" y="5111622"/>
            <a:ext cx="2857428" cy="25399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AFB8C1"/>
                </a:solidFill>
                <a:latin typeface="Hiragino Sans"/>
              </a:rPr>
              <a:t>最終判断 / 仕様変更指示 / pptx確認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987" y="5429114"/>
            <a:ext cx="2222444" cy="25399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FFC72C"/>
                </a:solidFill>
                <a:latin typeface="Hiragino Sans"/>
              </a:rPr>
              <a:t>Claude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30431" y="5429114"/>
            <a:ext cx="2539936" cy="25399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iragino Sans"/>
              </a:rPr>
              <a:t>Bash / Python / python-pptx / BigQuery / gcloud / git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70368" y="5429114"/>
            <a:ext cx="2857428" cy="25399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AFB8C1"/>
                </a:solidFill>
                <a:latin typeface="Hiragino Sans"/>
              </a:rPr>
              <a:t>実装全般 / BQ DDL / Cloud Run デプロイ / 議事録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987" y="5746606"/>
            <a:ext cx="2222444" cy="25399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FFC72C"/>
                </a:solidFill>
                <a:latin typeface="Hiragino Sans"/>
              </a:rPr>
              <a:t>GPT (ChatGPT Web)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30431" y="5746606"/>
            <a:ext cx="2539936" cy="25399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iragino Sans"/>
              </a:rPr>
              <a:t>ChatGPT (gemini-2.0-flashとは別)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70368" y="5746606"/>
            <a:ext cx="2857428" cy="25399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AFB8C1"/>
                </a:solidFill>
                <a:latin typeface="Hiragino Sans"/>
              </a:rPr>
              <a:t>司会 / 戦略統合 / 整合性監査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987" y="6064098"/>
            <a:ext cx="2222444" cy="25399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FFC72C"/>
                </a:solidFill>
                <a:latin typeface="Hiragino Sans"/>
              </a:rPr>
              <a:t>Gemini (Gemini Web + 3.1 Pro Context Cache)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30431" y="6064098"/>
            <a:ext cx="2539936" cy="25399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iragino Sans"/>
              </a:rPr>
              <a:t>Gemini Web (常駐LLM) / Imagen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0368" y="6064098"/>
            <a:ext cx="2857428" cy="25399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AFB8C1"/>
                </a:solidFill>
                <a:latin typeface="Hiragino Sans"/>
              </a:rPr>
              <a:t>監査 / Slow Brain本番運用 / ビジュアル設計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81790" y="1015974"/>
            <a:ext cx="3428914" cy="5524361"/>
          </a:xfrm>
          <a:prstGeom prst="roundRect">
            <a:avLst/>
          </a:prstGeom>
          <a:solidFill>
            <a:srgbClr val="252E42"/>
          </a:solidFill>
          <a:ln w="12700">
            <a:solidFill>
              <a:srgbClr val="FFC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8787" y="1111222"/>
            <a:ext cx="3174920" cy="28574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FFC72C"/>
                </a:solidFill>
                <a:latin typeface="Hiragino Sans"/>
              </a:rPr>
              <a:t>用語辞書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8787" y="1428714"/>
            <a:ext cx="3174920" cy="501637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C72C"/>
                </a:solidFill>
                <a:latin typeface="Hiragino Sans"/>
              </a:rPr>
              <a:t>BigQuery (BQ)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</a:rPr>
              <a:t>Google大規模データウェアハウス。1TiB free tier。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C72C"/>
                </a:solidFill>
                <a:latin typeface="Hiragino Sans"/>
              </a:rPr>
              <a:t>Context Cache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</a:rPr>
              <a:t>Gemini API のトークン常駐機能。 通常入力の1/4料金。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C72C"/>
                </a:solidFill>
                <a:latin typeface="Hiragino Sans"/>
              </a:rPr>
              <a:t>Cloud Run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</a:rPr>
              <a:t>GCPのステートレスコンテナ実行サービス。 e2-microは無料tier。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C72C"/>
                </a:solidFill>
                <a:latin typeface="Hiragino Sans"/>
              </a:rPr>
              <a:t>Slow Brain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</a:rPr>
              <a:t>15分間隔で戦略 (スタンスJSON) を出力する 「頭脳」 ノード。 Gemini 3.1 Pro Context Cache。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C72C"/>
                </a:solidFill>
                <a:latin typeface="Hiragino Sans"/>
              </a:rPr>
              <a:t>Risk Engine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</a:rPr>
              <a:t>発注前に静的ルールで危険注文を止める検問所。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C72C"/>
                </a:solidFill>
                <a:latin typeface="Hiragino Sans"/>
              </a:rPr>
              <a:t>Fast Guard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</a:rPr>
              <a:t>ms単位で異常を検知し、 ブレーキのみ独自判断するルールベース層。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C72C"/>
                </a:solidFill>
                <a:latin typeface="Hiragino Sans"/>
              </a:rPr>
              <a:t>Order Gate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</a:rPr>
              <a:t>注文前 6ステップ最終検問。 SL/レバ/流動性/コスト/類似Pattern/Explainability。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C72C"/>
                </a:solidFill>
                <a:latin typeface="Hiragino Sans"/>
              </a:rPr>
              <a:t>OHLCV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</a:rPr>
              <a:t>Open/High/Low/Close/Volume。 ローソク足の基本データ。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C72C"/>
                </a:solidFill>
                <a:latin typeface="Hiragino Sans"/>
              </a:rPr>
              <a:t>OI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</a:rPr>
              <a:t>Open Interest。 未決済建玉。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C72C"/>
                </a:solidFill>
                <a:latin typeface="Hiragino Sans"/>
              </a:rPr>
              <a:t>FR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</a:rPr>
              <a:t>Funding Rate。 永久先物の資金調達率。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C72C"/>
                </a:solidFill>
                <a:latin typeface="Hiragino Sans"/>
              </a:rPr>
              <a:t>LS比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</a:rPr>
              <a:t>Long/Short ratio。 ポジション偏り指標。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C72C"/>
                </a:solidFill>
                <a:latin typeface="Hiragino Sans"/>
              </a:rPr>
              <a:t>Imagen 3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</a:rPr>
              <a:t>Google画像生成AI (Geminiパイプライン)。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987" y="6476838"/>
            <a:ext cx="5079873" cy="25399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AFB8C1"/>
                </a:solidFill>
                <a:latin typeface="Hiragino Sans"/>
              </a:rPr>
              <a:t>Project danjer-GAIA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94730" y="6476838"/>
            <a:ext cx="888977" cy="25399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AFB8C1"/>
                </a:solidFill>
                <a:latin typeface="Hiragino Sans"/>
              </a:rPr>
              <a:t>11 / 09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7987" y="507987"/>
            <a:ext cx="11175720" cy="38099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iragino Sans"/>
              </a:rPr>
              <a:t>コスト見積り明細 — 固定費 / 変動費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987" y="952476"/>
            <a:ext cx="7619809" cy="25399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AFB8C1"/>
                </a:solidFill>
                <a:latin typeface="Hiragino Sans"/>
              </a:rPr>
              <a:t>Phase 1-2 POC段階 / Phase 3-5 拡大時 で 2フェーズ提示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7987" y="1269968"/>
            <a:ext cx="3809904" cy="25399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FFC72C"/>
                </a:solidFill>
                <a:latin typeface="Hiragino Sans"/>
              </a:rPr>
              <a:t>【固定費】(毎月発生、 利用量に依らず)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7987" y="1555711"/>
            <a:ext cx="7619809" cy="228594"/>
          </a:xfrm>
          <a:prstGeom prst="roundRect">
            <a:avLst/>
          </a:prstGeom>
          <a:solidFill>
            <a:srgbClr val="252E42"/>
          </a:solidFill>
          <a:ln w="12700">
            <a:solidFill>
              <a:srgbClr val="FFC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1485" y="1581110"/>
            <a:ext cx="1904952" cy="17779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FFC72C"/>
                </a:solidFill>
                <a:latin typeface="Hiragino Sans"/>
              </a:rPr>
              <a:t>サービス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39936" y="1581110"/>
            <a:ext cx="1269968" cy="17779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FFC72C"/>
                </a:solidFill>
                <a:latin typeface="Hiragino Sans"/>
              </a:rPr>
              <a:t>月額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73403" y="1581110"/>
            <a:ext cx="4190895" cy="17779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FFC72C"/>
                </a:solidFill>
                <a:latin typeface="Hiragino Sans"/>
              </a:rPr>
              <a:t>内訳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987" y="1809704"/>
            <a:ext cx="7619809" cy="203194"/>
          </a:xfrm>
          <a:prstGeom prst="roundRect">
            <a:avLst/>
          </a:prstGeom>
          <a:solidFill>
            <a:srgbClr val="252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1485" y="1822404"/>
            <a:ext cx="1904952" cy="17779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iragino Sans"/>
              </a:rPr>
              <a:t>GitHub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9936" y="1822404"/>
            <a:ext cx="1269968" cy="17779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FFC72C"/>
                </a:solidFill>
                <a:latin typeface="Hiragino Sans"/>
              </a:rPr>
              <a:t>無料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73403" y="1822404"/>
            <a:ext cx="4190895" cy="17779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AFB8C1"/>
                </a:solidFill>
                <a:latin typeface="Hiragino Sans"/>
              </a:rPr>
              <a:t>議事録/コード/pptx ホスト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987" y="2038299"/>
            <a:ext cx="7619809" cy="203194"/>
          </a:xfrm>
          <a:prstGeom prst="round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1485" y="2050998"/>
            <a:ext cx="1904952" cy="17779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iragino Sans"/>
              </a:rPr>
              <a:t>BigQuery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39936" y="2050998"/>
            <a:ext cx="1269968" cy="17779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FFC72C"/>
                </a:solidFill>
                <a:latin typeface="Hiragino Sans"/>
              </a:rPr>
              <a:t>$0 (1TiB free)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73403" y="2050998"/>
            <a:ext cx="4190895" cy="17779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AFB8C1"/>
                </a:solidFill>
                <a:latin typeface="Hiragino Sans"/>
              </a:rPr>
              <a:t>クエリ1TiB/月まで無料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7987" y="2266893"/>
            <a:ext cx="7619809" cy="203194"/>
          </a:xfrm>
          <a:prstGeom prst="roundRect">
            <a:avLst/>
          </a:prstGeom>
          <a:solidFill>
            <a:srgbClr val="252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485" y="2279593"/>
            <a:ext cx="1904952" cy="17779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iragino Sans"/>
              </a:rPr>
              <a:t>Cloud Run (e2-micro)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39936" y="2279593"/>
            <a:ext cx="1269968" cy="17779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FFC72C"/>
                </a:solidFill>
                <a:latin typeface="Hiragino Sans"/>
              </a:rPr>
              <a:t>$0-5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73403" y="2279593"/>
            <a:ext cx="4190895" cy="17779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AFB8C1"/>
                </a:solidFill>
                <a:latin typeface="Hiragino Sans"/>
              </a:rPr>
              <a:t>常時稼働分。 free tier 内なら$0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7987" y="2495487"/>
            <a:ext cx="7619809" cy="203194"/>
          </a:xfrm>
          <a:prstGeom prst="round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485" y="2508187"/>
            <a:ext cx="1904952" cy="17779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iragino Sans"/>
              </a:rPr>
              <a:t>Cloud Storage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39936" y="2508187"/>
            <a:ext cx="1269968" cy="17779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FFC72C"/>
                </a:solidFill>
                <a:latin typeface="Hiragino Sans"/>
              </a:rPr>
              <a:t>$0-2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73403" y="2508187"/>
            <a:ext cx="4190895" cy="17779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AFB8C1"/>
                </a:solidFill>
                <a:latin typeface="Hiragino Sans"/>
              </a:rPr>
              <a:t>画像/ログ 14日ライフサイクル、 ~10GB想定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7987" y="2724081"/>
            <a:ext cx="7619809" cy="203194"/>
          </a:xfrm>
          <a:prstGeom prst="roundRect">
            <a:avLst/>
          </a:prstGeom>
          <a:solidFill>
            <a:srgbClr val="252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1485" y="2736781"/>
            <a:ext cx="1904952" cy="17779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iragino Sans"/>
              </a:rPr>
              <a:t>Cloud Scheduler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39936" y="2736781"/>
            <a:ext cx="1269968" cy="17779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FFC72C"/>
                </a:solidFill>
                <a:latin typeface="Hiragino Sans"/>
              </a:rPr>
              <a:t>$0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73403" y="2736781"/>
            <a:ext cx="4190895" cy="17779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AFB8C1"/>
                </a:solidFill>
                <a:latin typeface="Hiragino Sans"/>
              </a:rPr>
              <a:t>5ジョブまで無料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987" y="3003474"/>
            <a:ext cx="7619809" cy="20319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FFC72C"/>
                </a:solidFill>
                <a:latin typeface="Hiragino Sans"/>
              </a:rPr>
              <a:t>固定費合計 (Phase 1-2): 月 $0-7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987" y="3047923"/>
            <a:ext cx="7619809" cy="25399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FFC72C"/>
                </a:solidFill>
                <a:latin typeface="Hiragino Sans"/>
              </a:rPr>
              <a:t>【変動費】(利用量に応じて、 取引活動・モデル学習量に比例)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7987" y="3333666"/>
            <a:ext cx="7619809" cy="228594"/>
          </a:xfrm>
          <a:prstGeom prst="roundRect">
            <a:avLst/>
          </a:prstGeom>
          <a:solidFill>
            <a:srgbClr val="252E42"/>
          </a:solidFill>
          <a:ln w="12700">
            <a:solidFill>
              <a:srgbClr val="FFC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85" y="3359066"/>
            <a:ext cx="2412939" cy="17779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FFC72C"/>
                </a:solidFill>
                <a:latin typeface="Hiragino Sans"/>
              </a:rPr>
              <a:t>サービス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47923" y="3359066"/>
            <a:ext cx="1142971" cy="17779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FFC72C"/>
                </a:solidFill>
                <a:latin typeface="Hiragino Sans"/>
              </a:rPr>
              <a:t>月額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54393" y="3359066"/>
            <a:ext cx="3809904" cy="17779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FFC72C"/>
                </a:solidFill>
                <a:latin typeface="Hiragino Sans"/>
              </a:rPr>
              <a:t>内訳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7987" y="3587660"/>
            <a:ext cx="7619809" cy="203194"/>
          </a:xfrm>
          <a:prstGeom prst="roundRect">
            <a:avLst/>
          </a:prstGeom>
          <a:solidFill>
            <a:srgbClr val="252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1485" y="3600359"/>
            <a:ext cx="2412939" cy="17779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Hiragino Sans"/>
              </a:rPr>
              <a:t>Gemini 3.1 Pro Context Cache 常駐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47923" y="3600359"/>
            <a:ext cx="1142971" cy="17779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FFC72C"/>
                </a:solidFill>
                <a:latin typeface="Hiragino Sans"/>
              </a:rPr>
              <a:t>$10-20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54393" y="3600359"/>
            <a:ext cx="3809904" cy="17779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AFB8C1"/>
                </a:solidFill>
                <a:latin typeface="Hiragino Sans"/>
              </a:rPr>
              <a:t>49,667ポストの30-40% (~300K tokens) を24/7常駐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7987" y="3816254"/>
            <a:ext cx="7619809" cy="203194"/>
          </a:xfrm>
          <a:prstGeom prst="round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1485" y="3828954"/>
            <a:ext cx="2412939" cy="17779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Hiragino Sans"/>
              </a:rPr>
              <a:t>Gemini クエリ (15分間隔)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47923" y="3828954"/>
            <a:ext cx="1142971" cy="17779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FFC72C"/>
                </a:solidFill>
                <a:latin typeface="Hiragino Sans"/>
              </a:rPr>
              <a:t>$5-30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54393" y="3828954"/>
            <a:ext cx="3809904" cy="17779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AFB8C1"/>
                </a:solidFill>
                <a:latin typeface="Hiragino Sans"/>
              </a:rPr>
              <a:t>日96クエリ × 30日 = 2,880回/月、 出力tokens変動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7987" y="4044848"/>
            <a:ext cx="7619809" cy="203194"/>
          </a:xfrm>
          <a:prstGeom prst="roundRect">
            <a:avLst/>
          </a:prstGeom>
          <a:solidFill>
            <a:srgbClr val="252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1485" y="4057548"/>
            <a:ext cx="2412939" cy="17779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Hiragino Sans"/>
              </a:rPr>
              <a:t>Gemini Embedding API (DNA初期化)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47923" y="4057548"/>
            <a:ext cx="1142971" cy="17779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FFC72C"/>
                </a:solidFill>
                <a:latin typeface="Hiragino Sans"/>
              </a:rPr>
              <a:t>$2-5 (一回限り)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54393" y="4057548"/>
            <a:ext cx="3809904" cy="17779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AFB8C1"/>
                </a:solidFill>
                <a:latin typeface="Hiragino Sans"/>
              </a:rPr>
              <a:t>49,667ポスト × 1024dim embedding。 Phase 1で1回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7987" y="4273443"/>
            <a:ext cx="7619809" cy="203194"/>
          </a:xfrm>
          <a:prstGeom prst="round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71485" y="4286142"/>
            <a:ext cx="2412939" cy="17779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Hiragino Sans"/>
              </a:rPr>
              <a:t>GPU Spot (A100 1h/週)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47923" y="4286142"/>
            <a:ext cx="1142971" cy="17779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FFC72C"/>
                </a:solidFill>
                <a:latin typeface="Hiragino Sans"/>
              </a:rPr>
              <a:t>$6-15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54393" y="4286142"/>
            <a:ext cx="3809904" cy="17779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AFB8C1"/>
                </a:solidFill>
                <a:latin typeface="Hiragino Sans"/>
              </a:rPr>
              <a:t>週1回 RL/PBT 学習。 Spot価格変動あり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7987" y="4502037"/>
            <a:ext cx="7619809" cy="203194"/>
          </a:xfrm>
          <a:prstGeom prst="roundRect">
            <a:avLst/>
          </a:prstGeom>
          <a:solidFill>
            <a:srgbClr val="252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1485" y="4514737"/>
            <a:ext cx="2412939" cy="17779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Hiragino Sans"/>
              </a:rPr>
              <a:t>Bybit/Hyperliquid API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47923" y="4514737"/>
            <a:ext cx="1142971" cy="17779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FFC72C"/>
                </a:solidFill>
                <a:latin typeface="Hiragino Sans"/>
              </a:rPr>
              <a:t>$0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54393" y="4514737"/>
            <a:ext cx="3809904" cy="17779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AFB8C1"/>
                </a:solidFill>
                <a:latin typeface="Hiragino Sans"/>
              </a:rPr>
              <a:t>読取無料、 取引手数料は別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07987" y="4730631"/>
            <a:ext cx="7619809" cy="203194"/>
          </a:xfrm>
          <a:prstGeom prst="round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71485" y="4743331"/>
            <a:ext cx="2412939" cy="17779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Hiragino Sans"/>
              </a:rPr>
              <a:t>取引手数料 (Phase 5以降)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47923" y="4743331"/>
            <a:ext cx="1142971" cy="17779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FFC72C"/>
                </a:solidFill>
                <a:latin typeface="Hiragino Sans"/>
              </a:rPr>
              <a:t>別途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54393" y="4743331"/>
            <a:ext cx="3809904" cy="17779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AFB8C1"/>
                </a:solidFill>
                <a:latin typeface="Hiragino Sans"/>
              </a:rPr>
              <a:t>Maker -0.025% / Taker 0.075% × 取引量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7987" y="5010024"/>
            <a:ext cx="7619809" cy="20319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FFC72C"/>
                </a:solidFill>
                <a:latin typeface="Hiragino Sans"/>
              </a:rPr>
              <a:t>変動費合計 (Phase 1-2): 月 $25-65  /  Phase 3-5 拡大時: 月 $50-200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07987" y="6032349"/>
            <a:ext cx="7619809" cy="444488"/>
          </a:xfrm>
          <a:prstGeom prst="roundRect">
            <a:avLst/>
          </a:prstGeom>
          <a:solidFill>
            <a:srgbClr val="252E42"/>
          </a:solidFill>
          <a:ln w="12700">
            <a:solidFill>
              <a:srgbClr val="FFC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7987" y="6032349"/>
            <a:ext cx="7619809" cy="444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800" b="1">
                <a:solidFill>
                  <a:srgbClr val="FFC72C"/>
                </a:solidFill>
                <a:latin typeface="Hiragino Sans"/>
              </a:rPr>
              <a:t>【総額】 Phase 1-2 POC: 月 $25-72  /  Phase 3-5 本格運用: 月 $50-207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381790" y="1015974"/>
            <a:ext cx="3428914" cy="5524361"/>
          </a:xfrm>
          <a:prstGeom prst="roundRect">
            <a:avLst/>
          </a:prstGeom>
          <a:solidFill>
            <a:srgbClr val="252E42"/>
          </a:solidFill>
          <a:ln w="12700">
            <a:solidFill>
              <a:srgbClr val="FFC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508787" y="1111222"/>
            <a:ext cx="3174920" cy="28574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FFC72C"/>
                </a:solidFill>
                <a:latin typeface="Hiragino Sans"/>
              </a:rPr>
              <a:t>用語辞書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08787" y="1428714"/>
            <a:ext cx="3174920" cy="501637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C72C"/>
                </a:solidFill>
                <a:latin typeface="Hiragino Sans"/>
              </a:rPr>
              <a:t>POC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</a:rPr>
              <a:t>Proof of Concept。 概念実証。 実コストや実機能を最小実装で測る段階。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C72C"/>
                </a:solidFill>
                <a:latin typeface="Hiragino Sans"/>
              </a:rPr>
              <a:t>Free Tier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</a:rPr>
              <a:t>GCPの無料利用枠。 BigQuery 1TiB/月、 Cloud Run e2-micro 等。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C72C"/>
                </a:solidFill>
                <a:latin typeface="Hiragino Sans"/>
              </a:rPr>
              <a:t>Context Cache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</a:rPr>
              <a:t>Gemini入力tokenを24時間キャッシュ。 通常料金の1/4。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C72C"/>
                </a:solidFill>
                <a:latin typeface="Hiragino Sans"/>
              </a:rPr>
              <a:t>Embedding API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</a:rPr>
              <a:t>テキスト/画像をベクトル化するAPI。 類似検索の前処理。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C72C"/>
                </a:solidFill>
                <a:latin typeface="Hiragino Sans"/>
              </a:rPr>
              <a:t>GPU Spot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</a:rPr>
              <a:t>中断可能だが安価なGPUインスタンス。 A100 で 約 $1.5/h。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C72C"/>
                </a:solidFill>
                <a:latin typeface="Hiragino Sans"/>
              </a:rPr>
              <a:t>A100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</a:rPr>
              <a:t>NVIDIA データセンターGPU。 RL学習で主流。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C72C"/>
                </a:solidFill>
                <a:latin typeface="Hiragino Sans"/>
              </a:rPr>
              <a:t>PBT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</a:rPr>
              <a:t>Population Based Training。 個体並走進化学習。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C72C"/>
                </a:solidFill>
                <a:latin typeface="Hiragino Sans"/>
              </a:rPr>
              <a:t>Maker / Taker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</a:rPr>
              <a:t>指値約定 (Maker、 流動性提供) / 成行約定 (Taker、 流動性消費) の手数料区分。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C72C"/>
                </a:solidFill>
                <a:latin typeface="Hiragino Sans"/>
              </a:rPr>
              <a:t>Funding Rate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</a:rPr>
              <a:t>永久先物の資金調達料。 ロングが多いとロングがショートに支払う。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C72C"/>
                </a:solidFill>
                <a:latin typeface="Hiragino Sans"/>
              </a:rPr>
              <a:t>OHLCV取得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</a:rPr>
              <a:t>ローソク足データ。 Bybit/Hyperliquid REST APIで無料取得可。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C72C"/>
                </a:solidFill>
                <a:latin typeface="Hiragino Sans"/>
              </a:rPr>
              <a:t>Cloud Scheduler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</a:rPr>
              <a:t>GCPのcron代替。 5ジョブまで無料。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C72C"/>
                </a:solidFill>
                <a:latin typeface="Hiragino Sans"/>
              </a:rPr>
              <a:t>Cloud Run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</a:rPr>
              <a:t>コンテナ実行サービス。 リクエスト時のみ起動で課金最小化。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7987" y="6476838"/>
            <a:ext cx="5079873" cy="25399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AFB8C1"/>
                </a:solidFill>
                <a:latin typeface="Hiragino Sans"/>
              </a:rPr>
              <a:t>Project danjer-GAIA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794730" y="6476838"/>
            <a:ext cx="888977" cy="25399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AFB8C1"/>
                </a:solidFill>
                <a:latin typeface="Hiragino Sans"/>
              </a:rPr>
              <a:t>12 /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